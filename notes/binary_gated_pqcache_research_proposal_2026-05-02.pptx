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307ea8cc34122" /><Relationship Type="http://schemas.openxmlformats.org/officeDocument/2006/relationships/extended-properties" Target="/docProps/app.xml" Id="Re497dc67c6304993" /><Relationship Type="http://schemas.openxmlformats.org/officeDocument/2006/relationships/officeDocument" Target="/ppt/presentation.xml" Id="Rcfbcd566d23f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4c2d1850a44ee"/>
  </p:sldMasterIdLst>
  <p:notesMasterIdLst>
    <p:notesMasterId xmlns:r="http://schemas.openxmlformats.org/officeDocument/2006/relationships" r:id="R6d3a306250604f62"/>
  </p:notesMasterIdLst>
  <p:sldIdLst>
    <p:sldId xmlns:r="http://schemas.openxmlformats.org/officeDocument/2006/relationships" id="256" r:id="R43fd5515e4014bd2"/>
    <p:sldId xmlns:r="http://schemas.openxmlformats.org/officeDocument/2006/relationships" id="257" r:id="R48c6d7f01ea442fd"/>
    <p:sldId xmlns:r="http://schemas.openxmlformats.org/officeDocument/2006/relationships" id="258" r:id="R0ff416cebff84dff"/>
    <p:sldId xmlns:r="http://schemas.openxmlformats.org/officeDocument/2006/relationships" id="259" r:id="R78969e62290e4316"/>
    <p:sldId xmlns:r="http://schemas.openxmlformats.org/officeDocument/2006/relationships" id="260" r:id="R430b275c4eda4f24"/>
    <p:sldId xmlns:r="http://schemas.openxmlformats.org/officeDocument/2006/relationships" id="261" r:id="R832152b148c84984"/>
    <p:sldId xmlns:r="http://schemas.openxmlformats.org/officeDocument/2006/relationships" id="262" r:id="R4caf22a5a9574efd"/>
    <p:sldId xmlns:r="http://schemas.openxmlformats.org/officeDocument/2006/relationships" id="263" r:id="Rb2345656e76947cd"/>
    <p:sldId xmlns:r="http://schemas.openxmlformats.org/officeDocument/2006/relationships" id="264" r:id="Rba3692df744e4ce8"/>
    <p:sldId xmlns:r="http://schemas.openxmlformats.org/officeDocument/2006/relationships" id="265" r:id="R2300e378885b484e"/>
    <p:sldId xmlns:r="http://schemas.openxmlformats.org/officeDocument/2006/relationships" id="266" r:id="R2afafc64a2614ebb"/>
    <p:sldId xmlns:r="http://schemas.openxmlformats.org/officeDocument/2006/relationships" id="267" r:id="Rb7b5300cc87a4c9e"/>
    <p:sldId xmlns:r="http://schemas.openxmlformats.org/officeDocument/2006/relationships" id="268" r:id="R1e0b0eaa7b5243c1"/>
    <p:sldId xmlns:r="http://schemas.openxmlformats.org/officeDocument/2006/relationships" id="269" r:id="Re2f0e81d06334880"/>
    <p:sldId xmlns:r="http://schemas.openxmlformats.org/officeDocument/2006/relationships" id="270" r:id="Rc10f7c54cba346fc"/>
    <p:sldId xmlns:r="http://schemas.openxmlformats.org/officeDocument/2006/relationships" id="271" r:id="Re6c8dabd41074df4"/>
    <p:sldId xmlns:r="http://schemas.openxmlformats.org/officeDocument/2006/relationships" id="272" r:id="R91ce72ecda7a44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4c2d1850a44ee" /><Relationship Type="http://schemas.openxmlformats.org/officeDocument/2006/relationships/theme" Target="/ppt/theme/theme1.xml" Id="R984edc728a424c8a" /><Relationship Type="http://schemas.openxmlformats.org/officeDocument/2006/relationships/notesMaster" Target="/ppt/notesMasters/notesMaster1.xml" Id="R6d3a306250604f62" /><Relationship Type="http://schemas.openxmlformats.org/officeDocument/2006/relationships/presProps" Target="/ppt/presProps.xml" Id="Racea89427abf4342" /><Relationship Type="http://schemas.openxmlformats.org/officeDocument/2006/relationships/viewProps" Target="/ppt/viewProps.xml" Id="Rc0657818be0a418d" /><Relationship Type="http://schemas.openxmlformats.org/officeDocument/2006/relationships/tableStyles" Target="/ppt/tableStyles.xml" Id="Rd70881c100204cb7" /><Relationship Type="http://schemas.openxmlformats.org/officeDocument/2006/relationships/slide" Target="/ppt/slides/slide1.xml" Id="R43fd5515e4014bd2" /><Relationship Type="http://schemas.openxmlformats.org/officeDocument/2006/relationships/slide" Target="/ppt/slides/slide2.xml" Id="R48c6d7f01ea442fd" /><Relationship Type="http://schemas.openxmlformats.org/officeDocument/2006/relationships/slide" Target="/ppt/slides/slide3.xml" Id="R0ff416cebff84dff" /><Relationship Type="http://schemas.openxmlformats.org/officeDocument/2006/relationships/slide" Target="/ppt/slides/slide4.xml" Id="R78969e62290e4316" /><Relationship Type="http://schemas.openxmlformats.org/officeDocument/2006/relationships/slide" Target="/ppt/slides/slide5.xml" Id="R430b275c4eda4f24" /><Relationship Type="http://schemas.openxmlformats.org/officeDocument/2006/relationships/slide" Target="/ppt/slides/slide6.xml" Id="R832152b148c84984" /><Relationship Type="http://schemas.openxmlformats.org/officeDocument/2006/relationships/slide" Target="/ppt/slides/slide7.xml" Id="R4caf22a5a9574efd" /><Relationship Type="http://schemas.openxmlformats.org/officeDocument/2006/relationships/slide" Target="/ppt/slides/slide8.xml" Id="Rb2345656e76947cd" /><Relationship Type="http://schemas.openxmlformats.org/officeDocument/2006/relationships/slide" Target="/ppt/slides/slide9.xml" Id="Rba3692df744e4ce8" /><Relationship Type="http://schemas.openxmlformats.org/officeDocument/2006/relationships/slide" Target="/ppt/slides/slide10.xml" Id="R2300e378885b484e" /><Relationship Type="http://schemas.openxmlformats.org/officeDocument/2006/relationships/slide" Target="/ppt/slides/slide11.xml" Id="R2afafc64a2614ebb" /><Relationship Type="http://schemas.openxmlformats.org/officeDocument/2006/relationships/slide" Target="/ppt/slides/slide12.xml" Id="Rb7b5300cc87a4c9e" /><Relationship Type="http://schemas.openxmlformats.org/officeDocument/2006/relationships/slide" Target="/ppt/slides/slide13.xml" Id="R1e0b0eaa7b5243c1" /><Relationship Type="http://schemas.openxmlformats.org/officeDocument/2006/relationships/slide" Target="/ppt/slides/slide14.xml" Id="Re2f0e81d06334880" /><Relationship Type="http://schemas.openxmlformats.org/officeDocument/2006/relationships/slide" Target="/ppt/slides/slide15.xml" Id="Rc10f7c54cba346fc" /><Relationship Type="http://schemas.openxmlformats.org/officeDocument/2006/relationships/slide" Target="/ppt/slides/slide16.xml" Id="Re6c8dabd41074df4" /><Relationship Type="http://schemas.openxmlformats.org/officeDocument/2006/relationships/slide" Target="/ppt/slides/slide17.xml" Id="R91ce72ecda7a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91fb3fcea8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daaeef6e7437d" /><Relationship Type="http://schemas.openxmlformats.org/officeDocument/2006/relationships/notesMaster" Target="/ppt/notesMasters/notesMaster1.xml" Id="Re61d0235925949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2b49bb24d24d5b" /><Relationship Type="http://schemas.openxmlformats.org/officeDocument/2006/relationships/notesMaster" Target="/ppt/notesMasters/notesMaster1.xml" Id="Rf1ffd358ddad48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6dec1836ed4184" /><Relationship Type="http://schemas.openxmlformats.org/officeDocument/2006/relationships/notesMaster" Target="/ppt/notesMasters/notesMaster1.xml" Id="R21c168e310894a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4d9af4a3e94825" /><Relationship Type="http://schemas.openxmlformats.org/officeDocument/2006/relationships/notesMaster" Target="/ppt/notesMasters/notesMaster1.xml" Id="R862e71bc3a9744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a56576cca47b5" /><Relationship Type="http://schemas.openxmlformats.org/officeDocument/2006/relationships/notesMaster" Target="/ppt/notesMasters/notesMaster1.xml" Id="R974e58f0dc9b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40cc433d84545" /><Relationship Type="http://schemas.openxmlformats.org/officeDocument/2006/relationships/notesMaster" Target="/ppt/notesMasters/notesMaster1.xml" Id="Rdacb2830f9484f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e641ba04c47c7" /><Relationship Type="http://schemas.openxmlformats.org/officeDocument/2006/relationships/notesMaster" Target="/ppt/notesMasters/notesMaster1.xml" Id="Rceaf71e17b4a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c39e8d81fd4966" /><Relationship Type="http://schemas.openxmlformats.org/officeDocument/2006/relationships/notesMaster" Target="/ppt/notesMasters/notesMaster1.xml" Id="R0eb6e37ca0c7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7ef1f8e41b4abd" /><Relationship Type="http://schemas.openxmlformats.org/officeDocument/2006/relationships/notesMaster" Target="/ppt/notesMasters/notesMaster1.xml" Id="R15d2fa9d0984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7763f3f4b54cf5" /><Relationship Type="http://schemas.openxmlformats.org/officeDocument/2006/relationships/notesMaster" Target="/ppt/notesMasters/notesMaster1.xml" Id="Ra387126ab3c54d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08207b24914fc0" /><Relationship Type="http://schemas.openxmlformats.org/officeDocument/2006/relationships/notesMaster" Target="/ppt/notesMasters/notesMaster1.xml" Id="Rdfec1331587845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858020075a4d86" /><Relationship Type="http://schemas.openxmlformats.org/officeDocument/2006/relationships/notesMaster" Target="/ppt/notesMasters/notesMaster1.xml" Id="Rc5d3c76e71c3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8678d793b64907" /><Relationship Type="http://schemas.openxmlformats.org/officeDocument/2006/relationships/notesMaster" Target="/ppt/notesMasters/notesMaster1.xml" Id="R64e49d47a2e549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e48d71956e49f7" /><Relationship Type="http://schemas.openxmlformats.org/officeDocument/2006/relationships/notesMaster" Target="/ppt/notesMasters/notesMaster1.xml" Id="R94fc8fc0bd9c44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442ea59f7402f" /><Relationship Type="http://schemas.openxmlformats.org/officeDocument/2006/relationships/notesMaster" Target="/ppt/notesMasters/notesMaster1.xml" Id="Rc3effc0277df4a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1426c69a904e65" /><Relationship Type="http://schemas.openxmlformats.org/officeDocument/2006/relationships/notesMaster" Target="/ppt/notesMasters/notesMaster1.xml" Id="Rf067122a39734b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439a70f494538" /><Relationship Type="http://schemas.openxmlformats.org/officeDocument/2006/relationships/notesMaster" Target="/ppt/notesMasters/notesMaster1.xml" Id="R4a43d5a5ed2e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d896c856b4f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3d1d7b4c814a10" /><Relationship Type="http://schemas.openxmlformats.org/officeDocument/2006/relationships/slideLayout" Target="/ppt/slideLayouts/slideLayout2.xml" Id="R83c27d8f3090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27d8f3090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cb376d3e64ad3" /><Relationship Type="http://schemas.openxmlformats.org/officeDocument/2006/relationships/notesSlide" Target="/ppt/notesSlides/notesSlide1.xml" Id="R8ee8def6270b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aba03707b4e79" /><Relationship Type="http://schemas.openxmlformats.org/officeDocument/2006/relationships/notesSlide" Target="/ppt/notesSlides/notesSlide2.xml" Id="R26c9a129d8e5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0eff94126443a9" /><Relationship Type="http://schemas.openxmlformats.org/officeDocument/2006/relationships/notesSlide" Target="/ppt/notesSlides/notesSlide3.xml" Id="R8a1bd33f007d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e22bfd826c4705" /><Relationship Type="http://schemas.openxmlformats.org/officeDocument/2006/relationships/notesSlide" Target="/ppt/notesSlides/notesSlide4.xml" Id="R84f638534e674d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f629765b0e40f1" /><Relationship Type="http://schemas.openxmlformats.org/officeDocument/2006/relationships/notesSlide" Target="/ppt/notesSlides/notesSlide5.xml" Id="R5132a35badcf48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37ef24c3e41e5" /><Relationship Type="http://schemas.openxmlformats.org/officeDocument/2006/relationships/notesSlide" Target="/ppt/notesSlides/notesSlide6.xml" Id="R6256ba294d4848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91e12f5d543b2" /><Relationship Type="http://schemas.openxmlformats.org/officeDocument/2006/relationships/notesSlide" Target="/ppt/notesSlides/notesSlide7.xml" Id="R6f17f13cd09e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68096df4e40eb" /><Relationship Type="http://schemas.openxmlformats.org/officeDocument/2006/relationships/notesSlide" Target="/ppt/notesSlides/notesSlide8.xml" Id="Rdc0840a43bd842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ff2b731694dd2" /><Relationship Type="http://schemas.openxmlformats.org/officeDocument/2006/relationships/notesSlide" Target="/ppt/notesSlides/notesSlide9.xml" Id="R62a6747c351e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f7896de022450c" /><Relationship Type="http://schemas.openxmlformats.org/officeDocument/2006/relationships/notesSlide" Target="/ppt/notesSlides/notesSlide10.xml" Id="R2467eaf365b84b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d138511294e23" /><Relationship Type="http://schemas.openxmlformats.org/officeDocument/2006/relationships/notesSlide" Target="/ppt/notesSlides/notesSlide11.xml" Id="R5b3cb67c9c7f41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533957c9e4f08" /><Relationship Type="http://schemas.openxmlformats.org/officeDocument/2006/relationships/notesSlide" Target="/ppt/notesSlides/notesSlide12.xml" Id="R700da24d11f74d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da3dab6014ecf" /><Relationship Type="http://schemas.openxmlformats.org/officeDocument/2006/relationships/notesSlide" Target="/ppt/notesSlides/notesSlide13.xml" Id="R1d33b25b49d54a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af58df96f4261" /><Relationship Type="http://schemas.openxmlformats.org/officeDocument/2006/relationships/notesSlide" Target="/ppt/notesSlides/notesSlide14.xml" Id="R1898a2dfb22f46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d45c2078a4697" /><Relationship Type="http://schemas.openxmlformats.org/officeDocument/2006/relationships/notesSlide" Target="/ppt/notesSlides/notesSlide15.xml" Id="R3831fcbf317946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57735543042d2" /><Relationship Type="http://schemas.openxmlformats.org/officeDocument/2006/relationships/notesSlide" Target="/ppt/notesSlides/notesSlide16.xml" Id="R082d37dfdd76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6ff53a95c4eb8" /><Relationship Type="http://schemas.openxmlformats.org/officeDocument/2006/relationships/notesSlide" Target="/ppt/notesSlides/notesSlide17.xml" Id="Rf51dc5edc4044b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C0F02-7B66-44B5-8D65-1E2A35F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B20D8-BCEC-4A43-8DFF-ACE2FEA4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RESEARCH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AE97-445B-4922-82AB-8E0ADDA3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3C596-8F48-40BF-9AE9-35D3FBB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Binary-Gated PQCache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6898A-071B-4E93-BC6D-CE663DB9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A retrofit compressed sparse-KV algorithm that makes K directly searchable, uses PQ for reranking, and only becomes a chip target after CPU/GPU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DFB38-5716-48D6-AA98-04DECEA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430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B3D03-39DC-41DD-A073-F456572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763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1.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B1624-7A00-43F4-B04C-4FB9B3F0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CPU implementation proves quality, bytes saved, and selector recall before kernel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0E12D-5AE4-40CE-8545-CF434C2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959AC-EEFF-4514-8870-8253370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2.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1FE82-1839-488E-B33C-857B6CE7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38450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GPU prototype exposes bit-packing, top-k, compaction, and sparse page-fetch bottlenecks.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E2462-3189-4805-94E1-55A0B10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99806-0B5E-4B9E-833D-1A95DA1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3. Hardware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472A0-4643-49CE-88C2-1C23973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2590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Custom datapath accelerates the measured bottleneck primitives, not one fixed paper design.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4437A-FD56-40FF-835C-AFC4F722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May 2,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D0997-4BA2-443A-8D7E-116F097B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A570D-6F81-4224-92AA-BA631815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Proposal synthesized from PQCache, self-indexing/hash KV, completion fallback, and chip-oriented discussion.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526C2-433D-476D-9E35-6640835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4254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24217-98D8-44F1-91B3-AAA1EEF3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0C1B6-AB49-4F1A-93BD-AA9D8E2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916C3-799F-43F3-A959-EC3F1410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7AFE-7BFE-4BBE-8B29-6D6073D2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research bet is not PQCache alone; it is a searchable compressed-KV substrate.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F403-2CB3-4D0D-ACD0-B8A44BF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Treat PQCache as a strong component inside a more general selector-plus-memory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564FB-64C2-434F-A381-F695645E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3B3D3-02A0-467C-B239-F464F3A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No benchmark claims here; this slide defines the proposal.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3C950-94BC-4123-A126-827B8B6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9BF8C-CAB8-47F4-A3DB-3F54468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37ABA-BB46-49E0-B1AB-B644925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3EF74-854E-4B32-A7CE-67CF8D4F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Binary/hash codes should do recall; PQ should repair ranking; quantized V pages should carry the bandwidth win.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9109A-502E-422A-BBCD-069CCA68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AB0BB-1337-4453-ABD0-54267C2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8EFC-782E-43DC-9D66-F679AB7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 decode turns KV cache into the dominant memory object; retrofit methods fit deployed dense/GQA/MLA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29A35-D698-4921-B6FB-4D9270DB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A0A30-FE2E-4335-9B43-59791CA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FBD8A-7533-4F32-96B3-1ADC51C2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Can selector metadata also be the compressed K representation without losing attention quality?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CB80C-90DB-49F4-9971-3EC2F4B1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DF6B9-6315-4BC2-A234-7A9FF1B7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43BC3-7D4B-4EC5-8C95-F7F193AF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482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Proceed toward hardware only if CPU quality holds and GPU bottlenecks map to compact custom primitives.</a:t>
            </a:r>
          </a:p>
        </p:txBody>
      </p:sp>
    </p:spTree>
    <p:extLst>
      <p:ext uri="{BB962C8B-B14F-4D97-AF65-F5344CB8AC3E}">
        <p14:creationId xmlns:p14="http://schemas.microsoft.com/office/powerpoint/2010/main" val="18443018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8DF4B-2FDB-47D9-85B5-E43CBD5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9D985-DE43-461D-97B2-0345665E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19F59-6F6E-4355-A1A9-968DEBD8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6151-69AD-40FA-9FF1-19C31B13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Long decode is a memory-system problem before it is an attention-math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4CEF1-7138-432B-82A6-5E6C8CE3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algorithm should be judged by selected bytes and recovered quality, not by asymptotic sparsity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94841-A10C-402C-A613-A5FC6A1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D43F8-A840-435C-BB88-98165C3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Variables are evaluation targets, not reported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2025B-0E87-4D03-9730-E60C78A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08F3E-ECE7-4249-B845-9BB32E8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Dense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52DDF-4873-4AC6-8899-31A98C32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7"/>
          </a:solidFill>
          <a:ln xmlns:a="http://schemas.openxmlformats.org/drawingml/2006/main" w="9525">
            <a:solidFill>
              <a:srgbClr val="C65F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8E2A5-4FDB-4385-91FF-E1C51F5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read all K + read all V + softmax over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D714D-ED9D-4E4A-9FF2-0C31A59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Hybrid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CAD2F-BB9D-4985-AB1B-24067BA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9525">
            <a:solidFill>
              <a:srgbClr val="2D7E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528A-053C-43A6-B42D-564C202B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K sidecar 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63D2F-2445-44AA-A385-224CCB38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9525">
            <a:solidFill>
              <a:srgbClr val="BD8E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02959-ECB2-4BEF-AD1F-52AF68A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813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M candidates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6CCCC-2856-4F2E-9050-FF8D5FC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9525">
            <a:solidFill>
              <a:srgbClr val="4E80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81627-EBF7-4CF3-826B-3D13999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895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K final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7A1C2-F961-4E4D-9A21-11D45A7A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9525">
            <a:solidFill>
              <a:srgbClr val="766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D6FA2-DB8A-4299-8C8C-CAC2625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86A11-0882-4082-9CC9-6A7C9654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6B6FE-709E-4D49-9173-95A2DD1D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862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BYTES SAVED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05455-854C-439F-8A89-777B505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EA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D7EA3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C33DA-8838-4F00-81AF-0CAAFBA5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8157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K sidecar + sparse V pages vs dense KV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6D6B7-007A-46B8-9831-6363767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AEB08-FFD9-43D2-9A56-5012451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862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QUALITY LOSS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27B95-7A8B-42C1-9087-B9777A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E806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E8061"/>
                </a:solidFill>
                <a:latin typeface="Aptos Display"/>
                <a:ea typeface="Aptos Display"/>
                <a:cs typeface="Aptos Display"/>
              </a:rPr>
              <a:t>bound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6151F-AB50-48B0-85B4-0E5CB49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8157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top-k recall, logit error, KL, task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15A5A-B9F2-44EB-B577-2012D65F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33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06B0D-B4B6-4FF6-B2E8-A60C2877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IRREGULARITY 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76DE08-FB3B-4F7E-8816-21C400FB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D8E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D8E2C"/>
                </a:solidFill>
                <a:latin typeface="Aptos Display"/>
                <a:ea typeface="Aptos Display"/>
                <a:cs typeface="Aptos Display"/>
              </a:rPr>
              <a:t>expose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7890A-02D8-4ECE-A299-E1B57548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top-k, gather, compaction, bit ops on GPU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72B85B-B55E-49BD-B2EF-8086DB17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33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91639F-E627-4750-B00E-08E9E4E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862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HARDWARE CASE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BA2448-E807-4C62-8E2F-1802A8F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577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66A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666A6"/>
                </a:solidFill>
                <a:latin typeface="Aptos Display"/>
                <a:ea typeface="Aptos Display"/>
                <a:cs typeface="Aptos Display"/>
              </a:rPr>
              <a:t>justify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11AD40-D9FB-4779-AD5C-45944B6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8157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only if custom primitives beat GPU pain</a:t>
            </a:r>
          </a:p>
        </p:txBody>
      </p:sp>
    </p:spTree>
    <p:extLst>
      <p:ext uri="{BB962C8B-B14F-4D97-AF65-F5344CB8AC3E}">
        <p14:creationId xmlns:p14="http://schemas.microsoft.com/office/powerpoint/2010/main" val="9355144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84399-5110-46F2-8F69-FA8DDBB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D3D95-BEBF-48DC-949F-D68938E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EB274-3423-49EA-94EE-28478D5C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D2F26-89CB-442B-B353-7E2C9C64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Binary-gated PQCache turns selection into a hierarchy, not one approximate scan.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D295D-85C1-45F7-A5DE-68A29F4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binary stage maximizes cheap recall; the PQ stage spends accuracy only on a small candidate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29667-AB35-465B-A0BE-0C6F47E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D1A5-4E36-47D5-BA00-99B20CD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M is the coarse candidate budget; K is the final sparse attention budget.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D3DD1-DEFD-4329-B0DA-142E63F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2D567-0C28-408F-B8ED-70793CA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242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F83C6-011F-432F-8606-510EA5E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4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2423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05C0B-DECB-4018-AB6E-30838F20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current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0C16E-3D77-470A-A07A-782CD84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F4D0C-9AF4-4418-AA40-5B6E1BD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B4F1F-6286-4CE2-815C-FE7B87A7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binary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18977-1C58-4C39-AA9F-C977CC1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sign/hash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DAEA2-6FDB-43E9-9F19-6D1855B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99065-EF9D-47D9-AC91-873967A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40CE4-2BFF-4F23-B16B-4E15C3E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bit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A9A24-4A70-4900-8AB3-ED9CA90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XNOR + popcount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42BD5-053E-4735-A913-F510F86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B9CB3-B26D-48D1-B919-7B512F34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324EC-4C69-40E2-A47E-35F5581C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top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839B3-5D97-4E5C-BD96-F5BE05F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candidate IDs/pages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0A84C-F2D2-4EDC-AB93-6F60EC1C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B6247-04F0-4006-9DB8-DA8391C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30CBC-93AD-4838-B182-43EAE5D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PQ rerank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3F61B-DEBA-4B1E-8FD5-12173A0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LUT 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4C9B1-335B-4443-A0F6-829FAE0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CA8F8-A49F-497A-B181-D81F4751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362FB-70D7-4836-96AF-2B03EC59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top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8E5F2-52F1-42D0-B745-48B4EF89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final rows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D5CD6-83B2-4929-9858-2E373280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A8D98-DAAE-40D1-8D7E-324FADE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E99BF4-E6B0-4315-8DB4-8653566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V pages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7AF960-E9DF-40C5-B856-7BEF859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int4/int8 fetch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A5BC87-6C19-48EE-98F2-AD6C5FA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48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06B19-7BAF-4951-9E93-FF12A7BC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009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4288">
            <a:solidFill>
              <a:srgbClr val="766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6D9141-1D61-4E92-9C4D-F9A74DC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90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6EAEA6-9669-447F-9CC4-AC45A98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66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softmax +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98EE30-82C7-4593-8E35-680E90B8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550901-3B2B-4EF7-9B91-DDCF6A65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Coarse stage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1480CC-AE91-4AF7-9A08-0CB016B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Full-cache scan is allowed only because each token is a few packed bits.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48724-E071-4CE6-B186-3D75D3B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1CD12F-2F61-4F11-8CF2-B284975C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29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Fine stage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858921-4B75-44D7-9D1E-A29C147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76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PQ LUT scores are paid only for M candidates, not every cached key.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E79C58-B412-4EAD-98D8-3AD90BF6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CCB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BE8B2B-C158-470E-9A01-42AA0A89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Final stage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FF3A8A-284F-48A0-90C9-2752D50C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76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Sparse V fetch is the expensive read; it must be page-aware and coalesced.</a:t>
            </a:r>
          </a:p>
        </p:txBody>
      </p:sp>
    </p:spTree>
    <p:extLst>
      <p:ext uri="{BB962C8B-B14F-4D97-AF65-F5344CB8AC3E}">
        <p14:creationId xmlns:p14="http://schemas.microsoft.com/office/powerpoint/2010/main" val="10151118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03ABCC-953B-4610-A099-1304A061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21411-3769-44EE-9DF5-A332340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MEMORY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A53A2-0318-414E-B546-91877D4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6210-6AB4-4DA1-96D5-6366E65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selector metadata should also be the compressed K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C1B26-AC69-4810-9BC2-89283438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Do not store a compressed key and then build a separate index if the compressed key can be searched directly.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E85AA-A8CC-486E-9405-CD2C1932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8D8D0-8400-49E7-B801-8A71E800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Sidecar fields are illustrative; CPU ablations should decide which survive.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9E97E-B663-4EBF-ABDD-E22F3C5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1DD8E-FA0F-4CFC-A7CE-17EE93F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152B2-FA8E-49BA-A948-F7076BC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A351D-16EE-4FC0-A756-BFD682DB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02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2CCCE-40A2-423F-8FD4-C59C887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4DC95-2EB4-4ABA-B201-EAE3A44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002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Used during decode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5F990-FA7A-4A38-94CF-695ECF59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F10E7-A090-4AD6-B674-9E30FF6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02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17CFE-BDC5-4034-870F-668451F5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575FF-F434-4609-A237-CEB2988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83F7B-95B2-492A-B006-5E8A4D5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 sidecar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43DFD-4FB9-46CD-A8DC-895F6F2B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b_i, pq_i, norm_i, bank_id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35C7E-7E06-4C0C-8246-01E6ACF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9F97A-DE9D-42A5-A01D-0066AD94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527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every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1BD99-8AA9-4E4C-8215-54752AC3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BE2A9-06FB-4669-9C0B-6B75E501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527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search and approximate score without FP16 K 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33E09-B283-4B39-855A-26E7904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43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9A309-646F-48BF-830F-FEB7C8C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A4657-8935-4C6B-BDD5-FA2F07E9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 escape tier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499F88-F097-4179-A811-C160EE8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051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int8/full K for outliers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49940-CFD2-4247-B83B-11E2C292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BF88F-FE09-4B6D-B601-DCD873F3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051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selected candidates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15C0E-F543-4B28-BB14-19492C0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5960B-0B89-42C0-81A0-E0D086FF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051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protect rare keys that PQ/hash represents poorly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4DAD7-0AF7-47C4-9819-EE6EBB3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85BB8-9AFD-4986-BF12-E97A7B2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04458-7435-4B26-ADF9-8E2DE5C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 page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5CD561-09EA-4891-8E8A-5C3485D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576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quantized V, scales, token 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8077C3-216D-4696-AE53-C2550244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702FE7-5E74-40D8-B754-9F9E601C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576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top K fetch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B0BDF-5C40-4C31-98D6-641EE38C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48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BF70B6-75F9-4D39-A456-2DF0AB8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576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dominant bandwidth object after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40A1C1-2EC8-48CC-8BB0-73EB7413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48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010BA-0E1E-4E2E-BA65-27A9BD4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6EE61A-7EC8-4D25-9E8E-A5D669D7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Summary page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D3903-6FF4-4F78-A224-854BBCD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completion numerator/denominator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19488E-B7ED-48B7-B705-5A780C2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095311-59F9-4545-B28C-553B96D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00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fallback path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110ED4-51BC-4A87-9B50-C91A9A1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00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F0EFB-6A01-4A0F-89D6-35F96EBF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100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recover diffuse attention mass without fetching all 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6E09A2-0974-4F70-B9E0-F5A64655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00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CEE3FB-DC1C-4C33-BA02-2A6796B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Per token: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C804C-CDE7-4C85-A9A3-81B36FD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1430">
            <a:solidFill>
              <a:srgbClr val="2D7EA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57D08E-491B-47AB-BDCE-3C354444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b_i bits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48E6C0-C682-449F-84A3-89C0736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1430">
            <a:solidFill>
              <a:srgbClr val="BD8E2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013FD1-387A-46B4-8EB7-E0F20439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625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PQ code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8B71CC-6709-4C7B-8CDA-770976C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958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1430">
            <a:solidFill>
              <a:srgbClr val="4E806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BAAABA-177E-4D36-A914-6B6EC9A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625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21C429-A8FC-4B6C-A047-27A339B5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1430">
            <a:solidFill>
              <a:srgbClr val="7666A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AE4C11-EF1A-41A0-8745-EA26E66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625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flags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42015A-ABB2-4102-BA3F-B951385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Small enough to scan; expressive enough to rerank.</a:t>
            </a:r>
          </a:p>
        </p:txBody>
      </p:sp>
    </p:spTree>
    <p:extLst>
      <p:ext uri="{BB962C8B-B14F-4D97-AF65-F5344CB8AC3E}">
        <p14:creationId xmlns:p14="http://schemas.microsoft.com/office/powerpoint/2010/main" val="16870279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995C9-A188-4D44-A738-902AB616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729FE-9398-4CCD-B3F4-1FC4805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DECODE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3AAE2-7F4C-429B-AB92-9B90681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85595-ABD4-44AF-BD9B-395AB41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Decode uses bit matching for recall and PQ LUTs for ranking fidelity.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99F73-846B-445C-9EEB-60369BE9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CPU prototype should expose every intermediate set so recall losses are measurable.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7F519-DBED-4FB4-88E1-73A4A84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68845-5426-4497-9D0A-62B24F6A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final exact-ish step can use reconstructed K_hat or quantized K only for candidates.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FB40D-329A-42A4-8829-41CCA212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A3C48-3245-4BC0-B211-44128DE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Query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A5820-1723-447B-83B1-A9EA3B8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66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7A4BB-8137-4E64-875D-826C2478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K sidecar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F3F2-D7F2-4BAD-8051-CFF4423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09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D6CFF-4E0F-4D3C-B483-905926E3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Sparse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4B0C9-1145-4966-8629-ECB541A9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28E3F-5358-4D34-829C-16F3CDD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431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1E0A0-2736-4AD2-9447-DB50302F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764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encode 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37717-6F4F-4E4D-93A1-FEBC1E42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62200"/>
            <a:ext cx="1162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b_q and PQ LUTs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60FE0-D1A6-4661-9B72-1AC08D5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4D4CF-B524-4DEE-8E70-5C9DB139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coarse 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1BA48-7B8A-46A9-B02F-97D2346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popcount over b_i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8705B-FE2B-49BC-8773-1C5BF3F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30D49-3318-4AC2-B338-7A0349F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candidate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E977C-FB16-42AD-9EFD-86D376F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0520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top M IDs/pages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DBF6F-9782-4234-A17F-EFB0DD2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54482-56D0-4AC4-994F-8C2B1D3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fine rerank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129CF-A400-4DDA-A589-02F30924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sum LUT[pq_i] + norm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7A3BE-BB16-4225-ADE8-81D4CAB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022335-AA50-4AF6-B1F9-3D5BEFE6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624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fetch top 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362DA-6F3F-4FBA-A5A4-ACEB4B0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V pages + optional 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6230A-3CB7-461E-8033-B41DD9EB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665C5-B4DB-4234-8126-E3E0325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1400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D0D7E0-506A-4066-8EDE-39446093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1400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softmax over selected rows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1E7BC5-0A5D-4D79-BB9A-384B11B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291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4288">
            <a:solidFill>
              <a:srgbClr val="7666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DBB46-2092-4E12-89A5-A8A1445E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624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32CBBF-9D22-4C48-B9A2-07C80A44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482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add missing mass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25AA5B-3447-48E3-BBEB-88CC8B8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185490-4EF0-4560-AA11-F08A067F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85ED77-3A12-4821-AF3D-499084D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615D0-8EF8-4FAA-B209-3505159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DABC9-57E9-4C12-A5A6-21C59660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766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4EC30B-B64E-4433-A997-892772F2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766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8763A-E3DF-4271-9E09-0A437B0D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146F4C-9D54-4ED5-A4E6-258733F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243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75983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8A66F-7107-44E3-8B65-3CDED20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71B0-2784-45E4-BE7F-34444C85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K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7631F-EEAF-425D-9BE7-9EE76B7F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3DEFC-3D6F-4E4D-A857-524F99D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K reconstruction should be residual and versioned, not a growing centroid 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90303-8D91-4230-A04D-171D15F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Long decode may widen the key distribution, but changing centroid count dynamically makes old codes hard to interpret.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BE366-135A-4F8A-AA0F-A124DA49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F214F-B937-4BFA-A9DB-3660588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Recommendation: fixed hardware shape, multiple codebook banks, residual PQ, and outlier escape.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04000-BDB5-4A7B-83F2-591D54E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C368F-4357-4764-A87D-89080C2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7"/>
          </a:solidFill>
          <a:ln xmlns:a="http://schemas.openxmlformats.org/drawingml/2006/main" w="14288">
            <a:solidFill>
              <a:srgbClr val="C65F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36111-F78A-44A7-9CA5-DB122E0D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03BB9-2A5E-40D0-811C-1AD3398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growing C over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8ECD7-40B5-4AE8-B36D-CA1AE7B6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forces recoding or version chaos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0159E-DFC6-464F-B64F-C88D8B14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880E8-36AD-4164-9AE4-017CE0C0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1A08C-7903-466F-BFE0-91218B6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page/epoch codebook banks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42105-1A51-45DA-A080-C698813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old pages keep bank_id; LUTs are generated per active bank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F8245-464A-42C1-8375-BD8090A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DAB84-491F-4052-A8E4-87BF4BE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Prefer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92485-CAC3-4500-B92F-74B5FFC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binary coarse + residual PQ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59EED-0172-432C-B95B-C28061B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k_hat = center(b_i) + residual_PQ(p_i)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A7E41-1C3B-4B37-A5E5-7D08ECD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828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26159-9F67-4705-8295-D1D048AC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00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K_hat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17B2D-AB3F-46E7-AA44-83995A9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1ECE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1ECE4"/>
                </a:solidFill>
                <a:latin typeface="Aptos"/>
                <a:ea typeface="Aptos"/>
                <a:cs typeface="Aptos"/>
              </a:rPr>
              <a:t>b_i selects a coarse region; pq_i stores residual code; norm_i restores logit scale; outlier flag routes to higher precision.</a:t>
            </a:r>
          </a:p>
        </p:txBody>
      </p:sp>
    </p:spTree>
    <p:extLst>
      <p:ext uri="{BB962C8B-B14F-4D97-AF65-F5344CB8AC3E}">
        <p14:creationId xmlns:p14="http://schemas.microsoft.com/office/powerpoint/2010/main" val="19636372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EC392-5CF0-48BB-9437-AA5FA17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EA96C-5D47-48C6-AF96-158096A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V AND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39A1B-AAA5-49FE-8ABD-F503E5B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5A1E7-768D-47CD-9D28-30E3E14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V compression is separate, but selected pages and completion summaries share the same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A1FA0-FCB2-4DA3-8167-A8701AD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Binary/PQ metadata can reconstruct K_hat; values still need their own low-bit storage and a missing-mass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A8002-0329-4D18-855C-A28F3F3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6B92A-2AE7-45F4-BB77-F4B85A3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Completion is a quality guardrail, not a replacement for selecting important tokens.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E676F-CACD-4D00-BA5A-862D3C6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15D56-6979-4AB0-8408-BC5BBC9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524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7B937-4284-41F3-975F-D87E503A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Selected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DFCBF-0C31-444E-87A5-25F50C5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257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top K token IDs -&gt; quantized V page fetch -&gt; local dequant -&gt; exact selected contribution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A1865-078F-4FAD-A234-84AC073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4524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4288">
            <a:solidFill>
              <a:srgbClr val="766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334BC-DBFA-4963-AC6A-C901D98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Missing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BE039-3C57-4695-80B7-10D9A3E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257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unfetched pages -&gt; small summary state -&gt; approximate numerator/denominator correction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4267A-5394-40EB-BC45-5F8675A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33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C37D9-92BC-4767-8287-AAA3CE3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2415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40258-AA9A-43F0-8A18-184DED8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0530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F690C-A0C1-4B9C-81C7-796B2C77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7675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output = (selected numerator + completion numerator) / (selected denominator + completion denominator)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FFC9D-817A-4ADB-AD82-A4F95333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197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Design implication: the memory controller must fetch sparse V pages and stream summary pages with predictable latency.</a:t>
            </a:r>
          </a:p>
        </p:txBody>
      </p:sp>
    </p:spTree>
    <p:extLst>
      <p:ext uri="{BB962C8B-B14F-4D97-AF65-F5344CB8AC3E}">
        <p14:creationId xmlns:p14="http://schemas.microsoft.com/office/powerpoint/2010/main" val="1908353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82B5F-17A9-43F0-897F-4D066E64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E7A9C-671B-4BE3-9247-1879910A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CPU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19F9-F742-41A8-90D6-64AF84B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CC8EE-A5A9-47CC-8A27-950E40F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CPU work should answer whether the algorithm is accurate enough before kernel work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57DD6-B756-4EAC-A26F-E974AF8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Start with an exact, inspectable harness; do not optimize before selector failure modes are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428E4-B7CA-4159-897D-C0A8370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7D109-DE30-4790-B355-9FC3BBB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CPU target: correctness and bytes/quality accounting, not serving throughput.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EFDD2-C6E5-439D-B0C7-A1202A72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7EF0B-D3C0-444C-9191-967F475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00CE4-0A71-4AD9-88B7-1F8084FE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E2347-F882-4F28-9A5F-1D71CA0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0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computes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9D502-2EC7-4C34-B711-4C3A2FBA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AF106-6D8F-4EDA-ACC3-A0B26DD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0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AF3BF-5CD2-41B9-9D09-059D3D9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4A176-FA97-4B04-B4D1-3582B45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F824E-D228-4C6B-83C9-190AEAF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Trace collector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BAA3B-EB24-4C19-ADB1-F630E5A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717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Q,K,V and exact attention from target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C5143-0F42-42E6-B527-1D5E55A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6A68D-EE16-4C47-923E-87FE1FE6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717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reproducible tokens, heads, layers,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53E41-152C-47DC-A353-BCD5359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B04AB-F66C-4D2F-857B-3A9C3C6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C4669-B750-43F1-9815-23255876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Selector simulator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CA900-208A-467B-B8C4-B29C664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43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recall, PQ rerank, optional K_hat logits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09EED-7C68-406B-9276-2875A01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2F109-8234-4A39-92E7-B7B1510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43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recall@M/K and logit error per 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6BB64-4C0B-49ED-A7CF-2978A4A7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31D13-3032-456A-8DD6-8E4D78C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C98DA-8624-44BF-9137-9CA5F52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Compression accounting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95D04-CA38-4253-BC81-6613F26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147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sidecar bytes, V bytes, summary bytes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664F5-2BB9-4F5A-890E-10CB1E92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D64B8-7835-4F50-B642-DE730F66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147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capacity and bandwidth estimates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380081-5EC0-4F1A-8245-350F92A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27AF7-952F-4025-B570-5630158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77468-77BE-4B09-AE21-3DFFC2A7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 harness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414B8-669C-4FA5-A892-3F8DC99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86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perplexity, needle, code, reasoning, long-output drift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36E06-FE57-4E2A-9508-602BA83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E4246-E2DF-4E98-BA2C-1168EE4D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86275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 hidden task cliff at target budgets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C99F49-3F70-4964-A174-0AE436C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75A4DA-5670-4CC0-A462-E138221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Kill criterion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F009CB-2637-4302-8E3F-8243C946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If candidate recall must be so large that V fetch dominates again, the algorithm is not a chip target.</a:t>
            </a:r>
          </a:p>
        </p:txBody>
      </p:sp>
    </p:spTree>
    <p:extLst>
      <p:ext uri="{BB962C8B-B14F-4D97-AF65-F5344CB8AC3E}">
        <p14:creationId xmlns:p14="http://schemas.microsoft.com/office/powerpoint/2010/main" val="21208140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78DE2-38BA-46D3-AD3A-B06E5CA0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7B009-AB93-453C-9B07-588DD438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378CE-D34C-412F-B111-41EDB3DD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4E6A8-FA05-4303-B4EC-D66002DF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ablation grid should isolate which metadata actually buys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EA9D6-62F6-437C-ABD3-00D677E6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Every extra bit in the sidecar must justify itself against attention quality and fetch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792B2-7932-4FD8-8F51-30C4C0E6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CAB5-7852-4076-9D03-08BDDEFA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Rows become implementation flags in the CPU harness.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DCE69-8808-4A03-8AAA-0F1F6AA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61902-0E0E-46D1-B1B5-9CC004E9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D1B19-1B68-4B83-859C-E751176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3071-9A32-4601-98C4-71914B3A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240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B5C2B-DBA8-49B6-93D0-BBE8106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469F1-F112-4247-B090-490EEB1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240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readout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8DF71-ABF4-4E8B-8F49-1B6B5E1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9F744-81B4-4361-9773-4DB85A9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240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 readout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3F2C5-4B81-4C12-B28C-40C596AA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14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0C951-6C09-4140-85AD-3F207156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40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01B94-FA2E-4E83-8FA7-445603C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C0845-C43E-4B0C-BC15-01A5CA7C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2B7B5-336F-4FD6-B8F0-B5C416C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bits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63C4A-4388-49BB-9EBD-0A6343A3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193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64 / 128 / 256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5A085-237E-44FC-BC86-865CE87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98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C3910-3167-437C-9DD4-B47EC9B6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candidate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B6871-5389-49A3-AB61-8D9CF0A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246A2-1028-4DB8-B797-F7311445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193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sidecar scan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6867F-0AA8-41D0-8353-C1E54056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098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16D61-339A-42DB-818C-E1FC26F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193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minimum viable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ED779-424F-49C5-BB3C-9B7E6ED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56D49-1BE4-4FE5-A768-C1FF7FAE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7DFEB-1F8A-4198-A0EC-C453F5D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PQ shape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0F299-E3CC-4E4E-991A-2B66B68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146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 subspaces, C centroids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D194D7-6912-49D7-A7FD-4C56B71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E1A897-02CC-466E-9705-D3568C5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146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rerank 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3B0F8-6653-4C54-9EBB-A662E3E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FBC95-9D07-40C3-8A23-036C91C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146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LUT and code bytes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C6523-91C5-4425-B1B4-8902E87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05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74EA6B-5C97-4382-B7F7-2FE6932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46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residual or plain PQ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590120-E01F-477E-BEF3-7D9DD4DE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D0BCD4-D9F5-4F4C-8191-0462FFF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D4BB54-85E9-47F7-B06E-BA2C436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Codebook bank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03A958-3020-40B6-A660-21B4C0E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99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global / page / epoch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A28B4-525F-49C1-BEBC-6EBFFDB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94B2DD-E6F0-4BDE-995F-34C0BBB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099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drift by token age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828127-9AD5-4BB7-9DD9-12D748D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335912-286B-4675-8540-459E9B67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099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LUT setup pressure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A97DAB-968D-485C-B332-F948863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00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FE8794-F565-48C0-A11D-63072607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099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fixed banks, not growing 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9305FA-8468-4E2E-87B1-1BC9B9D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549355-0147-4385-993C-5C58650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E401BF-CB52-44AC-BB22-703873C6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Outlier tier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A45E59-6409-40F3-B4A6-7A2B63D2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none / int8 / full 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859128-ABDC-408B-8C52-3F3EF62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CD16B4-D380-4178-9127-437A2F49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052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rare-key failures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2468E1-2E3B-4D6B-84A0-EE77CF2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3E5B00-33BD-4542-AF2A-11FE324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052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escape bytes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DDF841-2F35-4338-9275-E9E0213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95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D6CB1A-3840-4936-BB3B-08BF5E7E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keep only if tails matter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6C589E-7077-4795-9027-A4AA6AC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085365-3160-4F4A-9132-57BF4C2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42E2FA-DF02-4DCE-9679-F794F01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E91916-1C5D-44CD-AD2F-489C9D06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005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off / page / segment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569A2A-D231-4E65-B5E6-7B92F6E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E698CB-FDC2-4082-BB39-E2F089D9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005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softmax KL, long-output drift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60F570-009C-4286-83F3-1BCC42CA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D01F36-3DB7-4624-BB90-E558F78E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0057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summary bytes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5C4721-0CC6-4972-BEBA-086D335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82797D-52C1-4770-BC9F-9F5F069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005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fallback threshold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069F24-1B43-4CB3-A822-7F97015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7828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B2AAE-36E4-469C-8894-FA3CAAF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B6D32-F526-4C2B-961E-58C1C9F2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GPU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FD154-2B9A-415A-AC36-C145464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4C031-68C4-49AD-B8FA-16939B0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GPU work should benchmark the ugly parts, not just count bytes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0AD72-51C2-4BCD-AE25-A64FAA52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GPU prototype is valuable because it reveals which theoretical savings survive real kernels.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51AA9-B233-4880-B116-61C43D4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13EA8-E7F8-4081-BF3E-61D4400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Use dense attention and strong sparse/KV baselines; report both quality and wall-clock decode.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201B3-4092-47C7-A8DC-0B9009DC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1F511-F4B0-4D7D-B677-05B54E5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0CE31-CBC3-4829-ABEA-F34C64CF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03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00540-1D13-46F3-A7F9-09056E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86050"/>
            <a:ext cx="2590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PyTorch reference -&gt; Triton/CUDA kernels -&gt; serving integration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DBD03-B47B-4AF8-8A22-3D9DBAE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669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01652-1550-4866-806D-231914D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003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98C9-BF94-4500-BBBB-133B6706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86050"/>
            <a:ext cx="2590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tokens/s, latency/token, HBM bytes, occupancy, gather efficiency, kernel launch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CB72D-5580-4BE9-A0B0-CCC2A5F1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669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51411-7BB0-4BED-B60A-DAE7571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003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EE229-2137-4351-8F09-B77D9FE3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86050"/>
            <a:ext cx="2590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dense/GQA baseline, KV quant baseline, PQCache-like selector, hash-only selector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7FBD3-BE9D-4395-83A6-3DDFB39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819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C2B6B-DA1B-4E57-892C-8976D57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success is not only speedup.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5A174-F07F-4816-9170-421A4EB8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CE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CE4"/>
                </a:solidFill>
                <a:latin typeface="Aptos"/>
                <a:ea typeface="Aptos"/>
                <a:cs typeface="Aptos"/>
              </a:rPr>
              <a:t>It is a bottleneck map: which stages remain slow because GPUs dislike bit-packed scans, top-k, compaction, and sparse gathers.</a:t>
            </a:r>
          </a:p>
        </p:txBody>
      </p:sp>
    </p:spTree>
    <p:extLst>
      <p:ext uri="{BB962C8B-B14F-4D97-AF65-F5344CB8AC3E}">
        <p14:creationId xmlns:p14="http://schemas.microsoft.com/office/powerpoint/2010/main" val="20656136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CFF09-CC7F-4D10-9574-95BC8A3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CD95-D809-4939-9449-113C32B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BOTTLENECKS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C1A7F-C737-4638-9DB7-90DE51A0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BCEC-3476-4E4A-9A2A-2947E9A0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GPU bottlenecks become the hardware feature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DAB80-B8D2-4FED-BD64-3D9908BC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If a stage is fast on GPU, do not spend silicon on it; if it is slow but quality-critical, it becomes a primitive.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9ABA0-A67B-4E7E-B5DC-80186F1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CBEBE-A060-40B5-B1E5-FA421AFA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This slide defines what the GPU experiment should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4E88C-754E-47DF-9C4B-D08DF51D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FD0E4-8301-4781-ADB3-BFD6BA7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0C541-3650-4E79-8C4D-B1DF54FE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pain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A69C8-4885-4046-BFEF-163F38E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621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happens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22332-341D-4331-87AA-64EF8E5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E5716-7DB6-41EE-8237-AAC8DE70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621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 primitive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C7496-3ABB-498D-8349-6EA1D01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D5777-CAC6-4163-9C80-98E1F169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6217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79739-F472-4871-9A15-A4835B1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71C20-29ED-421E-B531-46AE6C1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05704-AED1-486A-93E3-2E9B3640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1-bit 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594C4-0670-4C0C-8910-44ED6625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packed bits and popcount are not the standard attention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15904-A266-42D7-B970-CC5007DC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04C54-399B-4A90-9428-2A33BFF8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bit-sliced SRAM + popcount lanes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4F2A1-72CF-42D4-A696-8260B89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9A563-5FF6-44F1-ABEA-096C06B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1462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keep if M recall 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5A857-B0D8-4AA8-8127-9BF316F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D3F34-A3C9-497F-945D-61267B4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BDE99-E098-42F2-89EF-51DBCA23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top-M/top-K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828BD-7097-4ECA-9228-558A6975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670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selection and compaction are irregular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28C80-052F-423B-9477-E9F3607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A9150-7E5E-44BF-9682-E00E377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670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streaming threshold/top-k network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1E21A-A4A6-46A5-B7B0-EE38DECA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445CB-D8BC-43AA-8B4F-01140F0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6707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budget by latency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91DEA-B303-49F1-B0A5-E03310F8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FA341-927E-4332-A2E4-3D29AF3F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64B1D7-C902-4E72-B535-DB4E62D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PQ LUT rerank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B41F78-D87F-4974-ADB2-59141618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195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small random LUT access and reductions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B1E125-2B3C-4277-A24D-F20CC404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635FE-EC6D-4018-9F6D-3DE8DE9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95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local centroid SRAM + fixed reduction tree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43B824-0FF6-4463-B1D0-099CFEBB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1B4CF-916E-4863-AFCC-7296FEA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share across heads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775EF8-1006-4FCD-BCD3-49C2BEF6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29104D-D0F6-4FB3-B906-C5E27FF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62B6EC-DDA4-4F44-8930-993A1F8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 page gather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BCFCEB-7419-4125-9BE8-5A6BF0D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719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selected IDs are not naturally coalesced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960A38-F04A-4969-89E4-FC34D30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21F02D-A79A-4375-B612-019F2C4D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scheduler + reorder buffer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37A18D-9DC5-4D21-A0CA-901B131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9B9EFB-7A74-48EA-8914-03CDCAA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7197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make pages the unit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A104A1-F8D7-4B34-85C1-9B402220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F9E1EC-363A-4333-8721-403D8FB6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4EC398-9CED-4EE2-926E-F7DBE250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5146CD-0105-4D8F-8D78-134AD891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244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summary path competes with selected path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E82CFE-549B-471D-A268-0C1C8BD2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8BEA49-E04A-4499-A49A-43D8CF5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parallel summary accumulator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148E12-C145-41D4-B41A-430B7C4E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BC643C-0D19-4F41-B54D-9A2ED215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24425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gate by entropy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5733B1-F9B1-4ADD-9724-3D9E47F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7886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1528A-24F9-48DE-8939-88221343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3BE63-FAB6-462F-B169-EFD5B40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HARDWARE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07343-838A-47C4-8A8B-BB49E39C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A96B4-2A70-4F68-AF0B-E890902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Custom hardware should specialize primitives, not freeze one paper's selector.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3471E-CA36-41DF-BC92-B5AEA75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candidate engine should support a small template: binary recall, PQ refinement, optional exact-ish rerank, sparse V fetch.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AF9DE-486E-4A5D-A207-BD11974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A611C-E3C6-4A66-8E8E-B725E57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Hardware sketch assumes an external HBM/DRAM KV store plus on-chip sidecar/codebook SRAM.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94D0C-944A-4656-A35F-7D5EA523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1D97-58D7-47C3-9068-C508EB23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6916E-CC68-4B0A-9E6C-F1F94B13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Query encoder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B315F-8DFD-4A21-94C7-1AA15065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sign/hash + PQ LUTs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D35EB-1E32-4D8A-AC28-90D6AF84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90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6399F-8D1E-42AD-9AC2-4402DE93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86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F9EFD-260B-4F68-BB93-F70271D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C15C4-2EC5-4821-B635-87CB68A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Sidecar SRAM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68EF3-880C-48E3-B056-21E9D27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b_i, pq_i, norm, flags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DD5BA-EDD9-4C3E-B5D3-33B5619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90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C180E-DDE7-4A23-B229-5F5D19D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86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5EBA2-CE5D-4435-AC1A-C0A5C90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24945-F3F3-41E6-ADCD-06D54537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Popcount lanes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3B27C-A493-4E15-AE36-EC36CD0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coarse 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A26A1-EE4C-4020-ADCB-732C6D7F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90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DF5EF-8482-451D-95F3-69636DF3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86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F2B7C-C3D0-4B45-BA27-8F2AD14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E1F77-DE61-484C-8651-EE7330F1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Top-M buffer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E6FDF-FE1E-4502-93BF-B898923C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candidate 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A5335-AF48-4C18-875E-29213D0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59B34-0542-4368-A69C-A1B79B4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68A74-5D44-4F7B-86CB-B123DA09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2E2AB5-DFD0-432A-A9AF-9CC19A6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PQ rerank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40DED-8621-4A44-97D4-A0DDA061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LUT reduction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E4EEC4-B709-474F-B7D7-95032FE3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90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547135-E8CE-4ABC-86C5-71EB82EC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86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59542-DF06-44FF-B8B8-900FEE59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CB200-A04D-4388-9CAB-F7C35BF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Page 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1E8CDA-9C18-47E9-BA7D-B80DB031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fetch/dequant 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566553-4196-4574-BB1D-CB6A4686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4288">
            <a:solidFill>
              <a:srgbClr val="766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BA0AF-A110-4671-A651-30288AE8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05300"/>
            <a:ext cx="3733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Completion accumulator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E7A5B-9576-41F9-BAE2-9879F68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910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summary numerator/denominator in parallel with selected rows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8366A5-086E-4DD2-8DA3-9918FF7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194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E5C9E-51F3-44EF-871F-F2F0EB9B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66246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248F5-A66C-45DA-BF6C-E99EEA7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2B1B6-1CA5-49CD-9947-093B30D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HARDWARE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68704-2905-45A5-A2B4-35372D8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A783C-95F9-4244-BF74-781FA2C8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hardware model must translate quality budgets into bytes, SRAM, and energy.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EEE02-2CC0-4849-9A28-D7A4B71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Do not claim a chip win from algorithmic sparsity alone; model the memory hierarchy and selector datapath explicitly.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3BA7D-E6E1-433F-BD6B-FDCEAC4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1503C-D5D6-49D6-B3A4-5E4BDAD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Outputs should be comparable against a GPU measured bottleneck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274B0-F2A1-490D-AA40-B27064C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653B-943A-4235-B1AB-34F7262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45F1D-D691-4AF2-8D65-51034CF2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B172D-A542-4C9E-98B8-2F0A7B8E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621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Algorithm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20B85-E76D-4304-BF70-1B3F9A2E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F2DBF-0310-4F39-94E3-233EDEFE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621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 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829B1-DED7-450B-8556-025FC66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38F92-590B-483B-8950-0979C3A9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621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72225-5D50-4C26-847C-9FCA396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231FA-9B78-43B1-B622-11CED0D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CE516-6698-4B08-ACDE-C639ABE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 bits/token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B2B4A-CD63-409B-88C1-33A9891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46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recall ablation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4B8DE-7C19-4018-B381-E47DFAA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38F7-80CF-45CE-AE9D-4443537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sidecar SRAM/HBM traffic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9C6BA-B395-42AF-88FF-8B40E635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6EBAE-28AE-4B04-A3BF-8606CE4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146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scan energy/token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77F74-4E81-4F4E-B107-97D6C2C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E257A-696D-4C6B-86F2-80D5E00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38EB4-12FA-42C4-A138-AA26D5D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PQ bytes/token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75FA9-5417-4104-B1B3-F1D4CBB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670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rerank error ablation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B49CE-D02C-4661-B95C-AB15B1EE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A2772-4F41-42D4-A8BE-22809B5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670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codebook SRAM + LUT bandwidth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954BC-0DC7-4398-B455-9C9D7FE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6CD0FD-A658-4CB9-8850-98CCFED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67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rerank energy/token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AD934-19B7-4CF2-988C-3052371B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FCA48-1C66-4F93-85B0-9636F5C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515CF-49C7-404F-B414-A476EA44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 and M budgets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913C42-6813-434A-A813-A6401DC1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95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quality-vs-fetch curve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F83A3-E20B-460C-B79E-B3D995E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B97BE-52F2-4262-9B0B-9E3D133A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95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buffer size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4EB91-ACBB-4DB1-94D8-CAB6258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1A00F-3067-4250-BE80-AC5F1B24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95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latency/token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1F8EC-5F6F-4EAD-A2A3-063F3A50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59145D-A286-47DE-89C4-A5F90EB1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A68A1C-40D1-4080-BC66-08D5635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 page size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E52E7C-58B3-4863-9D6E-32B82D0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719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sparse fetch locality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3ED63B-10E6-4F4D-9470-7AE7BE67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10176-E974-43CD-81B5-764E9F8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719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scheduler and dequant lanes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BA0C22-89E0-45B8-B633-A32121C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06432B-76B4-4C41-B3C9-1FE56499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719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HBM transactions/token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5EC86E-178C-4F22-9E52-889B2F04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17E27B-B2B2-452C-99E4-691BA36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1E35FC-3483-4004-AB00-D63F12E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completion summary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87493E-7F8A-426B-8299-3FA2F29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2442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diffuse-head failure rate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4166B3-CE6C-4905-919A-31498675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5BD221-6A2C-48CB-B8F0-2B2804B1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244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summary SRAM and accumulator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3CAE57-D141-4A42-AA3C-E84485F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6C0FAD-7A89-43E1-8561-BC1EC1E2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2442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 recovery per byte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C247D2-3C19-4D42-9268-6C1F0C9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2832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9DBF6-DDF3-4314-BDA8-A045D49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BDD8D-4D9C-46CE-9B79-EBB4200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761D9-2918-46C4-95BC-925064C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DDF80-4CAD-4FB5-A919-124956F7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project should have explicit go/no-go gates before tapeout effort.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B7826-3615-48FD-B695-EC5FACB2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fastest path is to disprove weak variants early and keep only primitives with measured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D37E4-9D89-4CCC-A08D-0CCEBCF7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49FC3-9DE1-434F-A93A-1D472B4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Timeline is a research plan, not a promise about calendar duration.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C1565-407F-4629-AFF9-6F9C762D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5E8BB-D2E4-4BCB-B8D1-F824B767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5DB19-4185-4E09-B72C-2EE4216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0-2 wk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C6D50-2AE9-4B3F-A893-DF441AE6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Trace + exact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13076-E5DC-49EC-B30A-775FBFCC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collect Q/K/V, dense attention, task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21FDF-FAC4-49FE-BE26-64AAB7B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82981-9AA1-4C5F-8108-138105A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E57D9-537B-48D7-806C-CC413FC7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2D7E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DE5C-ED78-4AD9-AFC2-03361711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EA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7EA3"/>
                </a:solidFill>
                <a:latin typeface="Aptos"/>
                <a:ea typeface="Aptos"/>
                <a:cs typeface="Aptos"/>
              </a:rPr>
              <a:t>3-6 wk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D363E-1A21-4954-B818-70A7F05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CPU selector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F9135-8D5C-493A-8D82-650F45C0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binary/PQ/residual/completion ablations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EF734-8F25-4C87-9992-5C163AFA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0DCFE-D13C-4FAD-8337-8EB93D5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D43F5-1E9C-42D5-A22F-0295714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A4D8D-D42D-4F4D-824D-5AF2998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7-10 wk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588D1-9AB5-4612-A16C-10C8DBC3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GPU prototype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E51E5-B03B-4AA4-AF4C-FE45AC7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Triton/CUDA kernels, benchmark and counters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6C356-3FF2-42DB-BEB9-ECC3FE2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6C0FF-EC1A-410F-A39F-775271F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62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38A9B-AABE-4BF5-BF1A-BA9102B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4E80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24027-B5F9-45D9-845A-393C93AE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11-13 wk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360F4-BBA3-4E33-837C-413B517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Hardware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7C4BE-849B-410F-8DD9-250ECEBF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primitive sizing, bytes, energy, scheduler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5BCDAB-5041-4A80-ADAC-0EC72134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75F87-5A3C-4CCF-A3EC-BBAD6B3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9BC62-6063-4B4D-B0DE-4AA78F53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7666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E009E-0E83-4168-9ADC-E11E18F3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14-16 wk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F9460F-5DE4-4749-A13D-2345FF2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Proposal freeze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E5CA0-15B1-4C3D-BCE1-5B9400C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05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choose chip-facing algorithm or pivot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BDB208-94AD-4A18-9639-34729CF0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Main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7353BD-753D-4BD7-93E5-AED63D06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Do not move to hardware unless the CPU quality curve and GPU bottleneck profile both point to the same small set of primitives.</a:t>
            </a:r>
          </a:p>
        </p:txBody>
      </p:sp>
    </p:spTree>
    <p:extLst>
      <p:ext uri="{BB962C8B-B14F-4D97-AF65-F5344CB8AC3E}">
        <p14:creationId xmlns:p14="http://schemas.microsoft.com/office/powerpoint/2010/main" val="9940762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AB4549-AAD0-489D-8786-2D4F1F8B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40320-B84C-48A1-9622-B987E876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1EE01-F984-4312-99D6-9F227FDA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066D-E7BF-45E2-A33B-1CE0097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expected contribution is an algorithm, benchmark, and chip co-design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F1131-8FE5-4AAA-BC92-58368E66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work should be publishable even if the final answer is that a narrower variant is the right hardware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06EF7-412C-424C-B2D1-175CA87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0C3BC-84DA-4F4F-97C9-5F9E3A9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Risks are useful because they define the measurement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EA803-A342-4AA1-9D2D-DA35EB6F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53259-29A3-4CB1-82C6-494F255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8B253-10FE-40CF-94E8-22927DFC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E7E3D-771D-45F9-8BB4-201131D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812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AB68A-D1F1-42F5-B26A-510FF5FD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5FEB6-C98A-4699-9E5F-F9A4345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447A0-6897-4E10-88E4-9776A7D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A3553-69D5-4331-B8B3-4CC085A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ABA29-63EF-47F8-BDF4-7F7549F3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F5BD7-EF10-4F5D-BC30-8E15356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7177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Binary-gated residual PQCache with completion-aware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0A058-02F5-4F29-B66F-5D2BA092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ECF6C-1732-485A-BA43-474BFD3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7177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recall fails on important heads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A45EB-945E-4C22-8139-029DA88F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B5122-63F0-480E-BB5A-4A268D0B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259C1-29B7-4B8B-AAAA-BE9145B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D6ACA-F992-42D3-92DF-26A40580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623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CPU/GPU harness that reports quality, bytes, and irregularity cost together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C0636-B842-4714-9739-7A5C60F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528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50982-D9FF-4141-BDDB-89E2C0C4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623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benchmark too model/task-specific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B02BB-594A-4B62-A0EB-1B9BD1A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BD24A-D30C-48EE-86AD-280469E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8873E-4DD9-48E9-9877-FD68177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Systems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306AE-563C-4EB4-8A6B-A4CDE6C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5287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GPU bottleneck profile for compressed sparse KV selectors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EB8E6-4676-4320-B605-5D4A401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433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596AE-B178-43B0-BFF2-E936A827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5287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savings erased by compaction and gather overhead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A0F02-E333-4517-8B69-E5C06E3C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8134B-77DE-411A-967E-6D726D29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456CB-D926-4559-9B8A-85A88214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416C9E-11CF-4ED2-9F88-2670A34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434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datapath template for searchable compressed K and sparse quantized 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F0F8C7-D70B-4D4B-9173-BB72617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3873B-D516-434C-B1C9-9987B51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43425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primitive set too broad or not enough reuse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B52510-E94A-4F19-A3DE-8E0CDBA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DCB23-7647-4AEC-9D82-7776BBB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01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169D3E-4A61-4AF6-A100-75F7DD7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81600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outcome: a selector/memory algorithm that GPUs struggle to exploit but custom hardware can make regular.</a:t>
            </a:r>
          </a:p>
        </p:txBody>
      </p:sp>
    </p:spTree>
    <p:extLst>
      <p:ext uri="{BB962C8B-B14F-4D97-AF65-F5344CB8AC3E}">
        <p14:creationId xmlns:p14="http://schemas.microsoft.com/office/powerpoint/2010/main" val="1529625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FB16B-E224-4942-B3A8-F8443F23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7FD11-7E3E-4CBC-A49D-1D9F82D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70A6D-C354-4D2A-A42F-C2F83079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D3038-144C-4D7F-9AA6-63F3DDC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95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Primary references for the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D383A-5DA9-4787-99B0-A4F1C69A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The proposed hybrid is a synthesis; these sources motivate the components, not a single reported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F5E65-6132-44F5-BE9B-283A3897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0B805-CEEE-42B1-8764-B8A84D59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URLs are plain text for easy copy/paste.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D9CCB-0FEC-488D-9FCD-29065BA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575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44CC8-0068-4B6B-ADA3-BE66966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24251-3FE4-44D4-98D2-4B82CFD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PQCache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82EB7-0CDE-4C76-83EC-95A7D346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https://arxiv.org/abs/2407.12820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96310-65C9-4769-92FC-9AFDACDA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C0A2F-C6E3-4C07-9E7F-9C1603D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Self-Indexing KVCache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B7B86-AFAE-47EF-AF86-397310E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https://arxiv.org/abs/2603.14224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30EA5-760A-44AF-8403-D104BD09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619A7-7EE3-4B1F-B685-3CD0F81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DASH-KV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0ED8D-06A6-412C-978A-81A64C82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051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https://arxiv.org/abs/2604.19351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74B0D-2782-405D-A1EA-A19D9510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48BA8-3269-4533-9F49-BD2FBB1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+ 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EB48B-13C7-4B56-B50E-40020418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https://arxiv.org/abs/2604.05438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1E482-CAFE-4FC1-9D58-60781D37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2499A-E267-495E-AABE-62B9E7C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ShadowKV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BD20E-67AF-4D3E-9CD4-3DE0E22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0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https://arxiv.org/abs/2410.21465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EED58-E892-47FD-BD51-A739C7F1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84ED4-06B6-45A9-AC5F-8A7C6269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ParisKV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B28AE-DC04-4330-A0EF-470FB47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https://arxiv.org/abs/2602.07721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B152A-4E41-4351-9D95-D2ECF64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BB363-94E9-49D8-B820-79E484E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RetrievalAttention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8324D-7084-41F7-9902-8AEF4D0E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527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https://arxiv.org/abs/2409.10516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427234-FD73-4AA4-BA6E-6C2E9C99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1F67B-3C37-44FF-9064-FC5DDC8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RocketKV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BE9C0-18FD-48E6-804A-1B87A08E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https://arxiv.org/abs/2502.14051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E82D44-CD01-42FD-88AA-7CE2C626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83A1FC-3C86-4CB1-AC7A-0F33B19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SWAN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52761-71B7-4185-8A57-B082B54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575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5750"/>
                </a:solidFill>
                <a:latin typeface="Aptos"/>
                <a:ea typeface="Aptos"/>
                <a:cs typeface="Aptos"/>
              </a:rPr>
              <a:t>https://arxiv.org/abs/2511.18936</a:t>
            </a:r>
          </a:p>
        </p:txBody>
      </p:sp>
    </p:spTree>
    <p:extLst>
      <p:ext uri="{BB962C8B-B14F-4D97-AF65-F5344CB8AC3E}">
        <p14:creationId xmlns:p14="http://schemas.microsoft.com/office/powerpoint/2010/main" val="1251599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2026-05-02T04:36:43.7230000Z</dcterms:created>
  <dcterms:modified xsi:type="dcterms:W3CDTF">2026-05-02T04:36:43.7230000Z</dcterms:modified>
</coreProperties>
</file>
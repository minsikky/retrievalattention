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5cf42e444b4ab8" /><Relationship Type="http://schemas.openxmlformats.org/officeDocument/2006/relationships/extended-properties" Target="/docProps/app.xml" Id="R6405ef27de544b9d" /><Relationship Type="http://schemas.openxmlformats.org/officeDocument/2006/relationships/officeDocument" Target="/ppt/presentation.xml" Id="R47ac307578094a5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a5e013afbfd4cf4"/>
  </p:sldMasterIdLst>
  <p:notesMasterIdLst>
    <p:notesMasterId xmlns:r="http://schemas.openxmlformats.org/officeDocument/2006/relationships" r:id="R646b05ce16cc4ddf"/>
  </p:notesMasterIdLst>
  <p:sldIdLst>
    <p:sldId xmlns:r="http://schemas.openxmlformats.org/officeDocument/2006/relationships" id="256" r:id="Rd1fff34c58de4265"/>
    <p:sldId xmlns:r="http://schemas.openxmlformats.org/officeDocument/2006/relationships" id="257" r:id="Rd75d299b7a5e4f1d"/>
    <p:sldId xmlns:r="http://schemas.openxmlformats.org/officeDocument/2006/relationships" id="258" r:id="R9aa00a72bd6e4362"/>
    <p:sldId xmlns:r="http://schemas.openxmlformats.org/officeDocument/2006/relationships" id="259" r:id="Rb7caaeb2cd0f40dd"/>
    <p:sldId xmlns:r="http://schemas.openxmlformats.org/officeDocument/2006/relationships" id="260" r:id="Rd9ede1ce3fd74dcc"/>
    <p:sldId xmlns:r="http://schemas.openxmlformats.org/officeDocument/2006/relationships" id="261" r:id="R5f0277bb27844dc0"/>
    <p:sldId xmlns:r="http://schemas.openxmlformats.org/officeDocument/2006/relationships" id="262" r:id="R42b16702b96d47f0"/>
    <p:sldId xmlns:r="http://schemas.openxmlformats.org/officeDocument/2006/relationships" id="263" r:id="R6bec05b505584b37"/>
    <p:sldId xmlns:r="http://schemas.openxmlformats.org/officeDocument/2006/relationships" id="264" r:id="Rd0c20a5649b54593"/>
    <p:sldId xmlns:r="http://schemas.openxmlformats.org/officeDocument/2006/relationships" id="265" r:id="R403a11c90a874476"/>
    <p:sldId xmlns:r="http://schemas.openxmlformats.org/officeDocument/2006/relationships" id="266" r:id="Red3fd9c21e6c49a6"/>
    <p:sldId xmlns:r="http://schemas.openxmlformats.org/officeDocument/2006/relationships" id="267" r:id="Re7a04f3833614391"/>
    <p:sldId xmlns:r="http://schemas.openxmlformats.org/officeDocument/2006/relationships" id="268" r:id="R32bef6db089846cf"/>
    <p:sldId xmlns:r="http://schemas.openxmlformats.org/officeDocument/2006/relationships" id="269" r:id="R8793941fadb1425d"/>
    <p:sldId xmlns:r="http://schemas.openxmlformats.org/officeDocument/2006/relationships" id="270" r:id="R7a5ada369b484e81"/>
    <p:sldId xmlns:r="http://schemas.openxmlformats.org/officeDocument/2006/relationships" id="271" r:id="Rbcade517d8a74039"/>
    <p:sldId xmlns:r="http://schemas.openxmlformats.org/officeDocument/2006/relationships" id="272" r:id="Rfcaf3123da8e4bf8"/>
    <p:sldId xmlns:r="http://schemas.openxmlformats.org/officeDocument/2006/relationships" id="273" r:id="R72d85259619840e4"/>
    <p:sldId xmlns:r="http://schemas.openxmlformats.org/officeDocument/2006/relationships" id="274" r:id="R62755c16e6cc47e8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5e013afbfd4cf4" /><Relationship Type="http://schemas.openxmlformats.org/officeDocument/2006/relationships/theme" Target="/ppt/theme/theme1.xml" Id="Rf1b60c40dd71418c" /><Relationship Type="http://schemas.openxmlformats.org/officeDocument/2006/relationships/notesMaster" Target="/ppt/notesMasters/notesMaster1.xml" Id="R646b05ce16cc4ddf" /><Relationship Type="http://schemas.openxmlformats.org/officeDocument/2006/relationships/presProps" Target="/ppt/presProps.xml" Id="R27adfd6e76f54f38" /><Relationship Type="http://schemas.openxmlformats.org/officeDocument/2006/relationships/viewProps" Target="/ppt/viewProps.xml" Id="Ra78cbafa3bf24d23" /><Relationship Type="http://schemas.openxmlformats.org/officeDocument/2006/relationships/tableStyles" Target="/ppt/tableStyles.xml" Id="R786f28d84c7e445b" /><Relationship Type="http://schemas.openxmlformats.org/officeDocument/2006/relationships/slide" Target="/ppt/slides/slide1.xml" Id="Rd1fff34c58de4265" /><Relationship Type="http://schemas.openxmlformats.org/officeDocument/2006/relationships/slide" Target="/ppt/slides/slide2.xml" Id="Rd75d299b7a5e4f1d" /><Relationship Type="http://schemas.openxmlformats.org/officeDocument/2006/relationships/slide" Target="/ppt/slides/slide3.xml" Id="R9aa00a72bd6e4362" /><Relationship Type="http://schemas.openxmlformats.org/officeDocument/2006/relationships/slide" Target="/ppt/slides/slide4.xml" Id="Rb7caaeb2cd0f40dd" /><Relationship Type="http://schemas.openxmlformats.org/officeDocument/2006/relationships/slide" Target="/ppt/slides/slide5.xml" Id="Rd9ede1ce3fd74dcc" /><Relationship Type="http://schemas.openxmlformats.org/officeDocument/2006/relationships/slide" Target="/ppt/slides/slide6.xml" Id="R5f0277bb27844dc0" /><Relationship Type="http://schemas.openxmlformats.org/officeDocument/2006/relationships/slide" Target="/ppt/slides/slide7.xml" Id="R42b16702b96d47f0" /><Relationship Type="http://schemas.openxmlformats.org/officeDocument/2006/relationships/slide" Target="/ppt/slides/slide8.xml" Id="R6bec05b505584b37" /><Relationship Type="http://schemas.openxmlformats.org/officeDocument/2006/relationships/slide" Target="/ppt/slides/slide9.xml" Id="Rd0c20a5649b54593" /><Relationship Type="http://schemas.openxmlformats.org/officeDocument/2006/relationships/slide" Target="/ppt/slides/slide10.xml" Id="R403a11c90a874476" /><Relationship Type="http://schemas.openxmlformats.org/officeDocument/2006/relationships/slide" Target="/ppt/slides/slide11.xml" Id="Red3fd9c21e6c49a6" /><Relationship Type="http://schemas.openxmlformats.org/officeDocument/2006/relationships/slide" Target="/ppt/slides/slide12.xml" Id="Re7a04f3833614391" /><Relationship Type="http://schemas.openxmlformats.org/officeDocument/2006/relationships/slide" Target="/ppt/slides/slide13.xml" Id="R32bef6db089846cf" /><Relationship Type="http://schemas.openxmlformats.org/officeDocument/2006/relationships/slide" Target="/ppt/slides/slide14.xml" Id="R8793941fadb1425d" /><Relationship Type="http://schemas.openxmlformats.org/officeDocument/2006/relationships/slide" Target="/ppt/slides/slide15.xml" Id="R7a5ada369b484e81" /><Relationship Type="http://schemas.openxmlformats.org/officeDocument/2006/relationships/slide" Target="/ppt/slides/slide16.xml" Id="Rbcade517d8a74039" /><Relationship Type="http://schemas.openxmlformats.org/officeDocument/2006/relationships/slide" Target="/ppt/slides/slide17.xml" Id="Rfcaf3123da8e4bf8" /><Relationship Type="http://schemas.openxmlformats.org/officeDocument/2006/relationships/slide" Target="/ppt/slides/slide18.xml" Id="R72d85259619840e4" /><Relationship Type="http://schemas.openxmlformats.org/officeDocument/2006/relationships/slide" Target="/ppt/slides/slide19.xml" Id="R62755c16e6cc47e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58f77ccec624477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8d3fac998c40a5" /><Relationship Type="http://schemas.openxmlformats.org/officeDocument/2006/relationships/notesMaster" Target="/ppt/notesMasters/notesMaster1.xml" Id="R0d08d09801ab43a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2acd203b85d45f7" /><Relationship Type="http://schemas.openxmlformats.org/officeDocument/2006/relationships/notesMaster" Target="/ppt/notesMasters/notesMaster1.xml" Id="R05e83d6420c04ca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ce1aed5cdf5409c" /><Relationship Type="http://schemas.openxmlformats.org/officeDocument/2006/relationships/notesMaster" Target="/ppt/notesMasters/notesMaster1.xml" Id="Rf9187c1df8ef487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a4ef67abac042a2" /><Relationship Type="http://schemas.openxmlformats.org/officeDocument/2006/relationships/notesMaster" Target="/ppt/notesMasters/notesMaster1.xml" Id="Rd7d70fea0fa14c8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fdcdf1f2e84868" /><Relationship Type="http://schemas.openxmlformats.org/officeDocument/2006/relationships/notesMaster" Target="/ppt/notesMasters/notesMaster1.xml" Id="Rf1ab2facafa0478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bf7a0cf402445f3" /><Relationship Type="http://schemas.openxmlformats.org/officeDocument/2006/relationships/notesMaster" Target="/ppt/notesMasters/notesMaster1.xml" Id="Raa7c3a3942e2435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00923747d1b4547" /><Relationship Type="http://schemas.openxmlformats.org/officeDocument/2006/relationships/notesMaster" Target="/ppt/notesMasters/notesMaster1.xml" Id="R8c9d9dc1d63c4db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45ea62dbc44267" /><Relationship Type="http://schemas.openxmlformats.org/officeDocument/2006/relationships/notesMaster" Target="/ppt/notesMasters/notesMaster1.xml" Id="R656129b2e00b48e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1230cdd30e04671" /><Relationship Type="http://schemas.openxmlformats.org/officeDocument/2006/relationships/notesMaster" Target="/ppt/notesMasters/notesMaster1.xml" Id="Re1f19bb796c649a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3e03930464404b" /><Relationship Type="http://schemas.openxmlformats.org/officeDocument/2006/relationships/notesMaster" Target="/ppt/notesMasters/notesMaster1.xml" Id="R38a73bc3ba554d0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6ee71680db6468a" /><Relationship Type="http://schemas.openxmlformats.org/officeDocument/2006/relationships/notesMaster" Target="/ppt/notesMasters/notesMaster1.xml" Id="R25025ded36324c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a59df57047f4ee3" /><Relationship Type="http://schemas.openxmlformats.org/officeDocument/2006/relationships/notesMaster" Target="/ppt/notesMasters/notesMaster1.xml" Id="R4590f8ff2309484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2f171d491dd94fe2" /><Relationship Type="http://schemas.openxmlformats.org/officeDocument/2006/relationships/notesMaster" Target="/ppt/notesMasters/notesMaster1.xml" Id="R233e76c32d4f4e4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af4bc28134542ca" /><Relationship Type="http://schemas.openxmlformats.org/officeDocument/2006/relationships/notesMaster" Target="/ppt/notesMasters/notesMaster1.xml" Id="Re8dad5f2b05b4c8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34bd25ba92d54c74" /><Relationship Type="http://schemas.openxmlformats.org/officeDocument/2006/relationships/notesMaster" Target="/ppt/notesMasters/notesMaster1.xml" Id="R22fa484c944046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4b1392165f420c" /><Relationship Type="http://schemas.openxmlformats.org/officeDocument/2006/relationships/notesMaster" Target="/ppt/notesMasters/notesMaster1.xml" Id="R1347b4da5f6e463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2aba3b921d044a90" /><Relationship Type="http://schemas.openxmlformats.org/officeDocument/2006/relationships/notesMaster" Target="/ppt/notesMasters/notesMaster1.xml" Id="Rec6c16c41cad41d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d8a32f91e0a64d33" /><Relationship Type="http://schemas.openxmlformats.org/officeDocument/2006/relationships/notesMaster" Target="/ppt/notesMasters/notesMaster1.xml" Id="R6103da857ba44f9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9dae6a2a8cb4cc2" /><Relationship Type="http://schemas.openxmlformats.org/officeDocument/2006/relationships/notesMaster" Target="/ppt/notesMasters/notesMaster1.xml" Id="R9c3da334224049b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81d0da9a38242d8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e471dc878cf94138" /><Relationship Type="http://schemas.openxmlformats.org/officeDocument/2006/relationships/slideLayout" Target="/ppt/slideLayouts/slideLayout2.xml" Id="Racbeeda02f754a7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cbeeda02f754a7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95e1e8821004aeb" /><Relationship Type="http://schemas.openxmlformats.org/officeDocument/2006/relationships/notesSlide" Target="/ppt/notesSlides/notesSlide1.xml" Id="R94dac94c811e42e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d2b0ce973fc48ea" /><Relationship Type="http://schemas.openxmlformats.org/officeDocument/2006/relationships/notesSlide" Target="/ppt/notesSlides/notesSlide2.xml" Id="Rc32629503ca5425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fa0c3e088e84d73" /><Relationship Type="http://schemas.openxmlformats.org/officeDocument/2006/relationships/notesSlide" Target="/ppt/notesSlides/notesSlide3.xml" Id="R34723795993c4ca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175862f117b4ab5" /><Relationship Type="http://schemas.openxmlformats.org/officeDocument/2006/relationships/notesSlide" Target="/ppt/notesSlides/notesSlide4.xml" Id="R6bbc52e53b09401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7be4c207e6f48de" /><Relationship Type="http://schemas.openxmlformats.org/officeDocument/2006/relationships/notesSlide" Target="/ppt/notesSlides/notesSlide5.xml" Id="R16bda99732624a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82b0fe4854145b8" /><Relationship Type="http://schemas.openxmlformats.org/officeDocument/2006/relationships/notesSlide" Target="/ppt/notesSlides/notesSlide6.xml" Id="R2c616a8dace946c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5c9cd7fd073414a" /><Relationship Type="http://schemas.openxmlformats.org/officeDocument/2006/relationships/notesSlide" Target="/ppt/notesSlides/notesSlide7.xml" Id="Rba378630ab914b5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8f316f7f5514167" /><Relationship Type="http://schemas.openxmlformats.org/officeDocument/2006/relationships/notesSlide" Target="/ppt/notesSlides/notesSlide8.xml" Id="R25c0a3fef9194c0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eafbad3bdb84a60" /><Relationship Type="http://schemas.openxmlformats.org/officeDocument/2006/relationships/notesSlide" Target="/ppt/notesSlides/notesSlide9.xml" Id="Ra913862360c54a6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c700ab65c514b4f" /><Relationship Type="http://schemas.openxmlformats.org/officeDocument/2006/relationships/notesSlide" Target="/ppt/notesSlides/notesSlide10.xml" Id="R625f1217e252478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3b5d70924cb4dc5" /><Relationship Type="http://schemas.openxmlformats.org/officeDocument/2006/relationships/notesSlide" Target="/ppt/notesSlides/notesSlide11.xml" Id="R34bab29240b34be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2a091b852dc4eda" /><Relationship Type="http://schemas.openxmlformats.org/officeDocument/2006/relationships/notesSlide" Target="/ppt/notesSlides/notesSlide12.xml" Id="R6ac6fbde317548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715a58919a847b3" /><Relationship Type="http://schemas.openxmlformats.org/officeDocument/2006/relationships/notesSlide" Target="/ppt/notesSlides/notesSlide13.xml" Id="Ra3f2e620b6ee4de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2f59c3dfa5a4c2c" /><Relationship Type="http://schemas.openxmlformats.org/officeDocument/2006/relationships/notesSlide" Target="/ppt/notesSlides/notesSlide14.xml" Id="R8748da47d34f450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105c57e179b4af7" /><Relationship Type="http://schemas.openxmlformats.org/officeDocument/2006/relationships/notesSlide" Target="/ppt/notesSlides/notesSlide15.xml" Id="R65976172614d42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4cffc151021425d" /><Relationship Type="http://schemas.openxmlformats.org/officeDocument/2006/relationships/notesSlide" Target="/ppt/notesSlides/notesSlide16.xml" Id="R9aa973506faa401a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c0841070d434747" /><Relationship Type="http://schemas.openxmlformats.org/officeDocument/2006/relationships/notesSlide" Target="/ppt/notesSlides/notesSlide17.xml" Id="R2a17846856f345d8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c68515c293254dc6" /><Relationship Type="http://schemas.openxmlformats.org/officeDocument/2006/relationships/notesSlide" Target="/ppt/notesSlides/notesSlide18.xml" Id="Ra759faf676b84fcb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af239c31e22491a" /><Relationship Type="http://schemas.openxmlformats.org/officeDocument/2006/relationships/notesSlide" Target="/ppt/notesSlides/notesSlide19.xml" Id="R4a2b844759e946f7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1D89DD5-CFFD-48E1-B860-03B9392F4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C11A17-3813-46D6-962A-E80D1875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2476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REVISED RESEARCH PROPOSAL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D79A84-90BD-4B18-8EEA-EAAAF1DE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742950"/>
            <a:ext cx="12763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41499C-40D9-4ABD-B6E7-24D4DDAD9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162050"/>
            <a:ext cx="73342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Dictionary-Backed Paged PQCache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A208C8-8C44-4187-893E-F1F988867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305050"/>
            <a:ext cx="6858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recall plus page-local PQ, centroid interning, variance-bounded merge, sparse V pages, and completion fallback.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C8184E-828F-4E6C-8792-E0D952D9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1049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9C28F-7158-4912-8852-2E7D4DBDA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2287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Novelty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D2CF74-AE1D-4A32-92F5-08C912DE6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504950"/>
            <a:ext cx="2590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Use page-local PQ when pages seal, then merge reusable centroids into a shared dictionary.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4972A9-815D-4E89-91CB-1BA36E7B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622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6A811E-CB11-4660-9960-E33AA3C1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4860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Claim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F76A1F-6A40-43F7-A4A8-D2E6FAFE4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762250"/>
            <a:ext cx="2590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Tame decode drift without paying linear codebook metadata per page.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5A6D3AE-372F-45B0-BC5D-2A768449C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619500"/>
            <a:ext cx="28575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C3D0E9-3246-4F97-AD5A-1E8035F4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433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Plan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10FBD91-4322-405F-8DAB-6795FBB6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259080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Prove on CPU, expose GPU pain, then map surviving primitives to hardware.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9405F-07AA-4EA5-918A-420344DF8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2286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May 2, 2026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93EC5FA-27D6-4CBD-9D21-F8475411F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DF116-CB3C-48E3-8EDE-4B2140054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57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Updated to include page-wise PQ and centroid interning as the proposed novelty.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AF68A1-6101-419D-BC54-FC514EEF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17708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172D07-F277-4C0F-8E6C-0AEA048EB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FCC59-FEC3-44E3-91EE-7E9BCA2B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ONE-LINE THESIS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F00D62-7488-401B-B5E5-BE809AFA9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300048-FB41-46D2-9693-8BC4F526E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algorithm should fit locally, but score globally.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9EB3BCF-8B6E-4BFB-8C18-5330C4E3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Global PQ controls metadata but drifts; page-local PQ controls error but grows metadata. Centroid interning is the bridge.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783A43-95FD-4C26-9490-6B2CDF36D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F1E075-DC97-4526-84C7-C755599A1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is the revised core proposal.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839D30-3724-4DDA-A0BA-A777C9F2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475566-5976-42D0-B58C-822410D8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7"/>
          </a:solidFill>
          <a:ln xmlns:a="http://schemas.openxmlformats.org/drawingml/2006/main" w="11430">
            <a:solidFill>
              <a:srgbClr val="C65F4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FC123D-4193-4300-8996-9DD94A291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4669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Global PQ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7CED58-644D-4D14-B004-715216722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2724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small metadata, but centroid variance can grow as decode distribution drifts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0793DC-8904-452C-8DCD-543871BB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3241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1430">
            <a:solidFill>
              <a:srgbClr val="BD8E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7ADB39-9BB1-4DA6-9525-F3FB443E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4669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Naive page PQ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FB1AF4-1F5B-439E-82D9-B83CA37C4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724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good local fit, but every sealed page carries its own centroid table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7737D4-274F-479D-B3E0-13B993AE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2410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1430">
            <a:solidFill>
              <a:srgbClr val="4E80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FE9AA1-BEB1-4E79-AF54-1883779AE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46697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Dictionary-backed page PQ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C93161D-476F-462C-A6AD-20E42B5CE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72415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train locally, merge reusable centroids, keep private/outlier centroids only when needed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B7C7EB-0753-4780-B793-D1739718D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41910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5420B1-52B7-4F38-8D05-E7377F8F9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352925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active exact page -&gt; page PQ on seal -&gt; centroid dictionary merge -&gt; compact page aliases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9427C2-872E-4048-BFD4-43E24E7F1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2197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Research question: can merge guarantees preserve attention ranking while making codebook metadata grow sublinearly with sequence length?</a:t>
            </a:r>
          </a:p>
        </p:txBody>
      </p:sp>
    </p:spTree>
    <p:extLst>
      <p:ext uri="{BB962C8B-B14F-4D97-AF65-F5344CB8AC3E}">
        <p14:creationId xmlns:p14="http://schemas.microsoft.com/office/powerpoint/2010/main" val="865746101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32D971-C8B6-481A-BD48-63C2E923E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78D451-082A-4D5F-9474-0A022D8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FAILURE MODE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86CB75-485C-425C-8EAA-831DA5C1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AFDA52-3691-49A7-B343-97A9F396F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Long decode makes global centroids stale, but online splitting is the wrong hot-path fix.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34F10B-E336-42DB-A7BA-32C4E78A3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risk is not just reconstruction error. It is top-k membership flipping because centroid residuals widen over generated tokens.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1FFEBC9-4F2E-4198-8F8D-385C387EC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B950964-7FAD-430C-82D9-4211B226E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proposed fix moves adaptation to page-seal time.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7EBEBD-C783-4A78-9E9F-3C4A88122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14CEB6-10C6-4768-AEE1-FBF3F03C3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20FBC3-B170-4F8E-A19D-87132463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002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Issue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00192D-6459-4E64-8C23-6BA82A000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190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DE1C39-261C-4A1F-A7A5-078369E4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00275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A8CC7-C6A0-4D35-B222-23F196FA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1907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949F2E-FC93-4B66-8493-9AF65054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2002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Avoid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AB9F1D-4F2C-4D10-A427-AF0EC16E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241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29845F6-379A-4FC3-B23D-0A3E54D89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098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Centroid variance grows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1CD466-F8CD-4A06-8599-93B51F836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8003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019046-B9B9-4317-81FD-926EF07F4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809875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members assigned to one centroid become less coherent as generated tokens drift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BE9AAB-3441-4930-81D6-0893BE86F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8003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105454-3CAE-4418-B0FF-45F93250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98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blindly trust old PQ scores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96DADE-AA61-401B-8CBD-3932D1D2D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337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95FFD-6624-4792-A5CD-051BC047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194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recall degrades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08BE82-EB2C-4C4B-A1AE-FB5D72E5B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34099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3F24AE-1480-415D-B203-F21A3294A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19475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small logit errors change candidate membership when many keys are near-tied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C4AFD9-029A-4190-BC14-18CE5499E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4099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60698B5-EA42-4948-BA54-518431B73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4194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optimize only MSE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BB9A84C-F2E7-4C75-BC6D-6940B13B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EB6A2F-C8C2-4D06-A3DD-C0549196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290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Online split is messy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054CC10-623A-4834-83AB-821D2B5D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0195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DE66B-C642-4F0F-AABE-57768D87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29075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old token codes need versioning; selector hardware becomes dynamic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646CE33-193D-4F7E-81E5-AF7D106A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0195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0A3F14A-F404-4357-84DD-0DB64DC7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0290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split in decode critical path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75BFD7-571A-473D-9835-2D06959C7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52950"/>
            <a:ext cx="9429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C9CC8AF-425C-4364-B86E-F6D89B5A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38675"/>
            <a:ext cx="2209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Page-seal adaptation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59CAFF-2742-42A1-961C-C164E65EC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4629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A2DD98D-A74E-496E-89B7-691EA2BE9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638675"/>
            <a:ext cx="40195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train after page contents are known, then compress with measured error stats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847D4E-4336-4A76-A750-622383512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29150"/>
            <a:ext cx="9525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4979E06-1ADE-40FD-AC6E-B27E73C12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38675"/>
            <a:ext cx="26860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none; this is the proposed control point</a:t>
            </a:r>
          </a:p>
        </p:txBody>
      </p:sp>
    </p:spTree>
    <p:extLst>
      <p:ext uri="{BB962C8B-B14F-4D97-AF65-F5344CB8AC3E}">
        <p14:creationId xmlns:p14="http://schemas.microsoft.com/office/powerpoint/2010/main" val="298196775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621C985-2813-4973-A9DF-70CFB4312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0B1521-A65C-4548-9189-D0948C6D4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ALGORITHM LIFECYCLE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9A9BD6-784D-4EA9-B3A1-72E9E0F35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6B1D6D-D9F5-41AF-96F0-BB87E20AF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Exact active pages become dictionary-backed PQ pages only after they seal.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C3ED78-F6B4-4479-AAAC-748E5F039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keeps recent tokens accurate and moves clustering/merging off the latency-critical decode path.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54177C-D11C-4819-B370-FE618A0E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F0D62D-F9E3-471D-8E0C-6E91ED55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Page size is a tunable parameter, e.g. 128-512 tokens.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DE778-D2D0-4A10-A4E0-6A5777957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DD4BA7-BA94-4E8D-937B-817172C7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BC1015-2265-4A95-BCF0-1192BFDC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Active page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872C75-A4E2-48CE-81C6-033C1BEF9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int8/fp16 K while filling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61B91F-5B76-477A-AD08-1AB5FB0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3242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FCC81E4-60AD-4729-8915-A3995688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9C2CC6-85C0-4ECF-B165-6EAF87BA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Seal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56143-A2AC-4136-A74E-83110004D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page reaches fixed size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1C2646-33E2-4504-80E5-97F804C79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242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D46D01-5D1F-4AAF-909B-C55AFF4BE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5469BFB-3E91-487E-9C1B-605128709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Train local PQ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DDC0914-45F9-46CA-93EE-D568C0DD7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fit page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928552-42DD-4B9E-A6F6-67EBC6E33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33242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83FE85-50B5-447B-B7F9-2AD1362F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B12B91-9CAC-4353-AFF8-002160160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Intern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1495CF-EFC1-4CAD-906F-C4A88A4C2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0225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merge/reuse centroids in dictionary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6E0C29-CC1C-40D7-B4B3-63247422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242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FA4387D-FB61-4A31-AF38-7D33CB632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2FF8C-D46F-4C64-BEED-86F7042E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Encode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4B7C63-4574-4E4C-A24C-0ED95D17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aliases: local id -&gt; global id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62D68A-1BB3-4EB3-90B0-7A8C37667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324225"/>
            <a:ext cx="285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B010100-E1B1-4C97-BA10-8B4BAE8F0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2914650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BD974A-0DD7-489E-A0F0-E1448848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038475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Decode later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8E9E4-75D5-44DD-A5D0-B56872BA0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3314700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recall + dictionary PQ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451584-3609-46E7-8AAB-5DDAB60A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810125"/>
            <a:ext cx="7429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Critical-path decode keeps using the current exact page plus previously sealed dictionary pages.</a:t>
            </a:r>
          </a:p>
        </p:txBody>
      </p:sp>
    </p:spTree>
    <p:extLst>
      <p:ext uri="{BB962C8B-B14F-4D97-AF65-F5344CB8AC3E}">
        <p14:creationId xmlns:p14="http://schemas.microsoft.com/office/powerpoint/2010/main" val="56671795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963DBE7-E5B0-4AEF-8942-A7520E327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D4F91D-395F-4063-BB77-D03D0B4AF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CENTROID INTERNING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7C283A-F8D8-40B5-B935-168457BA0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5FD9CD-5EEB-452E-BB76-05454CAF1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Centroid interning gives page-local fit without page-local metadata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0C9688-D42A-460C-BF47-1CE8FEB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Each subspace gets a shared dictionary; a page stores only compact aliases into the dictionary plus private centroids when needed.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67AAE5-0CDD-4576-AB82-52D202F2A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026E61D-1445-4ABF-A3C6-292AB505F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Interning is per PQ subspace, not one global table for the whole K vector.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07450A-E8E1-4697-B967-150CF936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9DFF03-E4C7-404A-9A69-138A8303A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48C4DF-3021-4683-8BD0-733160F6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8602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Local page codebook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71D649-2493-4DAB-95F1-CFA987B67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762250"/>
            <a:ext cx="220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centroids trained on the sealed page for each PQ subspace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9BAE03-E3E4-4846-BB64-68245DB16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622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26EA52-5F12-49A4-81CA-98715B461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8602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Shared dictionary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0571EC-6C95-4AAD-A370-34A80240E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20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reused centroids with count, SSE, radius, and logit-error metadata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3FDE39-BB57-462B-B25D-131AF53DC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362200"/>
            <a:ext cx="2476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8EE441-93E2-46BC-B928-08942A0BF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86025"/>
            <a:ext cx="2209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Page alias table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FD109-1CCC-466C-971A-2A95E643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762250"/>
            <a:ext cx="22098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small local code maps to global centroid id or private centroid id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E87F05-B0DB-4AA9-AAF3-BCC1F0EF2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9337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9D9D63-83BE-4284-9777-3E7BFEA2D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9337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A5AA28-CA1A-4173-98E5-307816D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95800"/>
            <a:ext cx="685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68EE58B-A069-4D6F-B63F-8202DC048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657725"/>
            <a:ext cx="6515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token_code[j] = local_id; page_alias[j][local_id] -&gt; dictionary_centroid_id</a:t>
            </a:r>
          </a:p>
        </p:txBody>
      </p:sp>
    </p:spTree>
    <p:extLst>
      <p:ext uri="{BB962C8B-B14F-4D97-AF65-F5344CB8AC3E}">
        <p14:creationId xmlns:p14="http://schemas.microsoft.com/office/powerpoint/2010/main" val="648131628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3D18D2B-D5C4-45FA-9C1A-08597D776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292944-14D7-45BF-9E7A-5F3D66CC0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MERGE GUARANTEE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C761C1-F293-4F54-A1DB-2076D0662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282098-31FD-4B2E-9D15-992479549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A centroid merge should be allowed only if variance and attention-logit error stay bounded.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A9AB57-E724-41BC-BA61-F60F2D3C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Centroid distance alone is not enough; merging must protect both reconstruction and candidate ranking.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BF4783-0D2B-4D4B-8053-BA623C82A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162D98A-B9EB-4B5A-90B9-B78850511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CPU experiments should test simple bounds before learned policies.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5F57E4-90BD-4CA5-B03F-403E4BA38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E75A78-06B8-4C22-8BE9-D0829108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28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1430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59A76C-FBB7-4667-B61D-92FBD43B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3717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Variance test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219D99-8D6F-41D7-ADAD-843EE1F6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2628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SSE_merged / n_merged &lt;= tau for this layer/head/subspace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32392-B627-4F4A-A43D-80BD20FC0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228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1430">
            <a:solidFill>
              <a:srgbClr val="4E8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19FDB-6DD4-4F06-B6BB-F70F7A3C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3717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Radius test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CF0BF-A50F-47C7-83E4-B379CD851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28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||mu_new - mu_old|| + r_new &lt;= allowed_radius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4C620B-5FFA-46F0-994D-4C4ED6432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228850"/>
            <a:ext cx="2857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1430">
            <a:solidFill>
              <a:srgbClr val="BD8E2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06FF7E0-BC94-4E2F-A810-4D7F22D1A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371725"/>
            <a:ext cx="2590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Logit test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023F31-1249-4FF1-8747-73275463E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62875" y="2628900"/>
            <a:ext cx="2571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||q|| * ||mu_new - mu_old|| &lt;= epsilon for calibration queries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913924-F30B-4068-81E3-12F1AE97D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48100"/>
            <a:ext cx="8477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A06A78-C935-4782-9AAE-57B7F802F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10025"/>
            <a:ext cx="81343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SSE_merge = SSE_old + SSE_new + n_old*n_new/(n_old+n_new) * ||mu_old - mu_new||^2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81E914-B36C-4A8F-8384-22B46B422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953000"/>
            <a:ext cx="8286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If the merge fails: allocate a private centroid, route high-error tokens to an outlier tier, or increase candidate quota for that page.</a:t>
            </a:r>
          </a:p>
        </p:txBody>
      </p:sp>
    </p:spTree>
    <p:extLst>
      <p:ext uri="{BB962C8B-B14F-4D97-AF65-F5344CB8AC3E}">
        <p14:creationId xmlns:p14="http://schemas.microsoft.com/office/powerpoint/2010/main" val="118673677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A2B32B-ABAC-4442-801B-4A0C39CC1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820FC5-AC76-463E-9526-C1CDB7A0A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MEMORY FORMAT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58AEA2-4492-4C4D-8B77-25FC3F945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CD2A63-0D11-4542-BAB0-121533268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page stores aliases, not a full repeated codebook.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D93F44-2E57-4618-A1F7-E1089BC5A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dictionary can grow sublinearly when centroid structure repeats across pages; hard pages still keep private entries.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88B58C-C5AC-4602-8DD1-C4BB948A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504CF-3B73-4E3F-8F68-86816D66A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is the main metadata-scaling argument.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7B7BB3-C93E-4D9C-BAED-C0189B46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D3CA2B-136C-4A51-B26B-41C1641F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E41C29-6DFE-4A5F-8829-138FF4E90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30619-2E13-40DE-AC2E-F1C392DE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0E494D-7A72-41FC-95D9-796A29ADA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621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Stored fields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BA7680-E870-44FE-9F3D-40E3402E9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BAE857-B88A-43CA-B308-1A9A5CDA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6217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Growth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696792B-8A37-4E8B-AD70-E48E0616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A8344FF-A0F3-48A8-BBC8-72C905D1B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1621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Purpose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9DBD7A-CA7E-4BB6-80A5-3C3FBFC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F38345-D97F-41DA-94E5-0B4E905F2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Dictionary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6854AF9-2010-490A-A1BE-E5759C532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948594-0DBD-4A19-B16C-BF1D59AA7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146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centroid vector, count, SSE, radius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E882E7-9E60-4DFD-BE49-AAB68DEC5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46149-D6A1-422B-9D64-DF5423D81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1462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sublinear if centroids repeat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97FBCB-ADD2-490F-BEBD-52279D686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C17E89-8044-4274-9980-F6AC634BE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7146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global scoring table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8DEFA2A-528D-4226-B3C9-E73FCB301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957B74-0293-4304-BA44-9FB8E84E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alias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78F7DD-89BB-4406-8513-6731687E6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8CADAFB-1024-4ECF-815D-3F9971994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670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local id -&gt; global/private id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45B37A-5358-4375-AEA6-E62BED14B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C13AC7-6562-49E1-BE21-E4030068F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26707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linear but tiny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1947BD-4353-422C-B42D-33DE81DD1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E697A1A-220E-4561-97F0-A7215066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2670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small token codes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22E43D-8D37-4076-87A1-424A94EA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3116AE-61DD-431C-81EF-E483BEB14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Token code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58591E-72F6-4D58-8CEF-20B5126AB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A0D143-6413-4516-A6E6-FA9178205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95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local id per subspace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9B155E3-545F-40B4-B5B7-B043597CC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54B48C-8C81-424E-8964-1CBEE94E1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81952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linear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B0040A7-43DC-4DA3-9639-72DA2799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C02CD5C-839D-40E4-872D-6F3978FF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195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compressed K representation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D7DD8FF-890F-49B0-860E-D93D1C2E6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DEB71C3-93AC-4524-AADD-7A5475906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Outlier tier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5817FFF-EDB2-46FC-9A79-5DD54D569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2C5E3E6-1589-402C-8802-04C9338B8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7197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int8/full K or private centroid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8460B21-FB26-4B78-8B7C-4FD0B5BCC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3FBE9EC-0910-4C8B-A7E3-54DBE3D0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37197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sparse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888E40B-383B-4FA2-BB93-F94202658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23E723-6B6C-4364-BE42-68F25E0D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37197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protect rare keys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4156ED1-4E43-4CEF-B692-B0433868F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6859225-6C0F-4A82-B422-8D5AB2141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sidecar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2C8B2CA-24ED-4E4C-BFA2-3D52D5253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8BABA1D-84DE-4FBD-832D-BF7823CE3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24425"/>
            <a:ext cx="24003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b_i hash/sign code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3C969D7-E1D9-43CD-957A-3471B38F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7A8CCFA-35F2-4827-BCF2-40C30EAFA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4924425"/>
            <a:ext cx="2495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linear, tiny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88C1B42-B6A9-4DDF-8028-B3D0C7DFA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47007B3-8268-4A0F-8B40-3EE0F928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24425"/>
            <a:ext cx="2209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candidate recall</a:t>
            </a:r>
          </a:p>
        </p:txBody>
      </p:sp>
    </p:spTree>
    <p:extLst>
      <p:ext uri="{BB962C8B-B14F-4D97-AF65-F5344CB8AC3E}">
        <p14:creationId xmlns:p14="http://schemas.microsoft.com/office/powerpoint/2010/main" val="76752732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061CDF1-934B-4488-A7AD-8BB19329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9C9720-F413-4145-A1E6-4DB7114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SCORE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F84A7E-E420-4DF4-8F1A-3170E90C2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899497-516E-4B59-B51F-4B9794DA6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Dictionary-backed PQ lets pages fit locally while queries score against shared centroids.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C2A2E0-78C3-4965-9EDF-D5F2F9486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alias indirection is the cost; codebook reuse and comparable LUT scoring are the payoff.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7B62F8-B51E-4935-B1E9-0F361933A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D851B-F9AD-4469-A362-9161DDD5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On GPU this indirection may be painful; on custom hardware it is a natural SRAM lookup.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862D3D-C2ED-4E9F-B03E-A401470F8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37DC2-1CBA-4D69-AFCC-F4CAC90F0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C242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67447-F3AD-4CCA-9266-D31A9BFB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C2423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1C2423"/>
                </a:solidFill>
                <a:latin typeface="Aptos"/>
                <a:ea typeface="Aptos"/>
                <a:cs typeface="Aptos"/>
              </a:rPr>
              <a:t>q_j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A0B8A0-9D01-4609-AF2E-4CE0EC42E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subspace query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E284DC-555C-4E33-9E80-B6A2FA18A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6925" y="3314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DD15B9-7450-4F1C-9649-8ED6E9D6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C634E8E-E430-48EC-AAEF-016408198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LUT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50C3BB-5F37-4223-85CE-15C0D78E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q_j dot dictionary_j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C8555C-A53D-455C-8409-0B4A5FE4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314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6F4587-E5F9-4D3A-8A4D-6F97CEA8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CD2A22-5F45-4F06-8F98-77A9DE60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token local id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2C54F6-5B3A-4111-A575-FD10EEB47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small per-page code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604F3-33A1-431E-B87A-66FCEED57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3314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FE0DDDF-500A-41FF-BAAC-1F77AB2F8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17914E8-FEF0-4EF1-BCD4-7B9E4BBE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alias lookup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9FB4EC-89CB-44A3-B18E-332A66F6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local id -&gt; centroid id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3EE90-0CE8-435F-B139-E2B95870A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314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D53844-34E5-4F90-A0D1-43D285579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6B03BD-12CF-4A26-9983-1568A6064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score add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4B60B0-6DBC-4ED7-9431-BCA312A3D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LUT[centroid id]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2F1887-6B73-4CAB-AADE-0DC1C6401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14700"/>
            <a:ext cx="4762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2D9BC66-1D14-4471-9A5B-F880FF79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905125"/>
            <a:ext cx="12858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CB33783-C3EB-49B1-A388-CD5369982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028950"/>
            <a:ext cx="1019175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0C17345-7CD4-4CAD-BF2B-FC26660B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3305175"/>
            <a:ext cx="10191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reranked candidates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C33012B-ECFA-4924-840B-EA8089015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857750"/>
            <a:ext cx="7905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If a page uses private centroids, the page alias points to a private dictionary bank with the same scoring interface.</a:t>
            </a:r>
          </a:p>
        </p:txBody>
      </p:sp>
    </p:spTree>
    <p:extLst>
      <p:ext uri="{BB962C8B-B14F-4D97-AF65-F5344CB8AC3E}">
        <p14:creationId xmlns:p14="http://schemas.microsoft.com/office/powerpoint/2010/main" val="1843017484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4EFCB40-9AEC-4723-BD8F-AF2E5F97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8A41A8-98B3-4006-BF97-25AD3FFDF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SELECTOR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315BC0-8649-4264-83BC-93D3E9221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BE6D85-710E-46B6-9269-E8649149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Binary recall should be uncertainty-aware when PQ pages have different error bounds.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81E860-AC69-45C9-9DF8-8516BF38D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High-variance pages should not silently lose important tokens because their approximate scores are less trusted.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5767F-C879-4167-A0BC-85395F0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5F498C-AF8B-41C0-AFF7-40C35541A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is where the merge statistics feed the candidate engine.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4E4ABB-3E20-4E4F-9135-8DE241A45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836E7E-9278-4230-946F-0A7AB336E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479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80F249-298A-47FA-8A02-406DC1E2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717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Binary recall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5A7FD5-A55D-4CF5-9E50-7568ADAD4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647950"/>
            <a:ext cx="2114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cheap full-cache candidate generation using b_i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E56F22-531E-437E-81AF-880AA8D17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479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C1E013-7D64-47AD-B19F-522ED6795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3717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Error-aware admission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F921F2-CD9D-4215-91F7-4B9FA13D3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647950"/>
            <a:ext cx="2114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boost quota or use score upper bound for high-radius pages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F2BAC5-62FD-4C30-B01C-E24AA7594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247900"/>
            <a:ext cx="238125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9BB1BD-12B2-45EC-9030-0BDEF439D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71725"/>
            <a:ext cx="2114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PQ rerank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ACC88E-9F70-4052-B756-7A61B69BA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47950"/>
            <a:ext cx="2114550" cy="561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dictionary LUT + norm + page bias; optional exact-ish K for uncertain rows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25DF99-44AB-43F0-A2E9-776A12CD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7432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3761271-95EA-48DC-B3E0-AA9FA44A7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43200"/>
            <a:ext cx="1047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A9043D-F263-49E1-BC12-95299825E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171950"/>
            <a:ext cx="6096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5386515-4104-4B13-A839-49C163694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4333875"/>
            <a:ext cx="5753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score_upper_i = score_hat_i + ||q|| * radius(page_or_centroid_i)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5AAE83-6AA5-48BD-A628-F8872B045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514350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Candidate quota is a quality control knob, not just a latency knob.</a:t>
            </a:r>
          </a:p>
        </p:txBody>
      </p:sp>
    </p:spTree>
    <p:extLst>
      <p:ext uri="{BB962C8B-B14F-4D97-AF65-F5344CB8AC3E}">
        <p14:creationId xmlns:p14="http://schemas.microsoft.com/office/powerpoint/2010/main" val="1549087031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3F0E6D-98AA-4C9F-A653-56309801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7EB60DB-C7CA-41C1-92CE-291B1D38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V AND FALLBACK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9F97EE-2F07-4B93-A663-25B4B70A1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C2A038-5076-4A0D-9C85-CCD28EAC1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K compression is the search problem; V compression is the bandwidth problem.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2B2842-73BD-4DF7-96DF-71736935E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new centroid scheme should compose with quantized V pages and a completion fallback for diffuse attention.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5D844D-A3C8-42FC-A9EA-163C884E7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123675-4AF0-4B2A-92CC-53B8A421B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Do not let K-side novelty hide the V-fetch cost.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B931CC-D913-422E-9F53-39942EE4A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B4FE44-419E-4691-95D0-3C926BDA9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F0AB4A-6205-4ECF-ADF3-08E17E96E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4098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K side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DA203A-1665-4084-B9C0-797249DB6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" y="2686050"/>
            <a:ext cx="2590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sidecar + dictionary-backed PQ + optional outlier K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C7520D-104C-4C83-A878-AC6EDB27B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2860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294F0F9-A4E2-4943-96C0-9DDC70F1B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098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V side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D96C6C-5038-4A5E-892D-36EA3CEE6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686050"/>
            <a:ext cx="2590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selected int4/int8 V pages with scales and token maps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53D0D-D6EA-4668-9A3C-00C912ED6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286000"/>
            <a:ext cx="28575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3335">
            <a:solidFill>
              <a:srgbClr val="7666A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5D2695-333A-49EC-BCAA-B23E55ED1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409825"/>
            <a:ext cx="25908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5F0DF6-2BBF-4C9D-A0D3-AEB5BD4D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2686050"/>
            <a:ext cx="2590800" cy="657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page/segment summary adds missing softmax mass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104EBA-4921-4296-A4C1-7F4D389D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286250"/>
            <a:ext cx="62865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0A1778-4C3A-446D-8B01-5C5534045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4448175"/>
            <a:ext cx="59436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output = (selected_num + completion_num) / (selected_den + completion_den)</a:t>
            </a:r>
          </a:p>
        </p:txBody>
      </p:sp>
    </p:spTree>
    <p:extLst>
      <p:ext uri="{BB962C8B-B14F-4D97-AF65-F5344CB8AC3E}">
        <p14:creationId xmlns:p14="http://schemas.microsoft.com/office/powerpoint/2010/main" val="1976414087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6A9742-CDCA-41C0-B635-87C9C17A8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3D509E-474C-40F7-9DC6-DE0E51F6B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CPU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E58D9-E59C-4D1C-8FA8-44FA382CC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509CBF-6BD1-4FFD-8EFA-2A49570A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CPU implementation should prove whether centroid interning preserves attention ranking.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3A138-996F-438E-9B33-BCC456B55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first prototype should be exact, inspectable, and instrumented; speed is secondary.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5109E8-CF2D-422D-A97A-7D72C7ECF2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4C44E-21D7-44A8-B1BC-28FB2FAB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Metrics should be per layer, KV head, page age, and task type.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EBE600-4097-4280-A8F2-E405B05F8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7A6A637-3F44-49DB-8F2B-30034FDC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574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C43C01-461D-4562-B6C1-CA0B38737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431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Build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7F62E9-916B-46D2-9351-853CE4CDB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784392-F219-4B1E-955F-665A908C4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1431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Measurement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2625B-F8AD-4AC0-B7DC-3C90025C5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1336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4517F9-37E4-471A-97D7-AD3F5543B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1431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93167C-7387-48AE-A894-17979E2C4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C1FD26-026B-4C3B-9A38-9A3F4EC33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Trace collector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B21572-EFF3-4FE6-A582-A7CF8A27F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686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A66F1A3-16E9-48CF-9F0D-EF218EE4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26955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Q/K/V, exact logits, exact top-k, output vectors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851D9B4-640C-4E48-891A-5057ABB84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6860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841A751-7764-48AB-A4B4-1B0048A2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6955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reproducible baseline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C5A48E9-ACF8-4594-853B-8E0D00CA2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623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B970C27-0BED-44F4-AA48-232005635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480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PQ encoder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4F285F-07E7-422F-A827-6AD7BC332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2385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8D1719-6507-476F-B3F2-CF9C24A9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480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local codebooks, private centroids, alias tables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8A8DCB-7BBF-4B1F-AAD3-68E8811CF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2385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8584DE-879A-4B28-B8BB-B44DB6F78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2480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fit quality by page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F99789-1F09-4B0C-AD3D-93BB238F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859A17-01F9-443E-BF71-4176A7566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004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Interning policy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C8F4B9F-91BB-4E74-941C-9C31D40A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790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FAF12F-8E6D-4982-B12C-40B6F6C0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8004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merge rate, dictionary growth, variance/logit bounds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CCDED6-C068-414B-B8EB-E289BE1B4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7909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2A1016-0527-4968-AA72-D362B0694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8004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sublinear metadata without recall cliff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5FCD1D8-B832-4F2B-AC6D-52F061A7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6720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BFF1725-1474-478D-B76E-8FE031BED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3529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Selector simulator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0DDD5A-A3DE-4A52-9414-64D9CA3E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343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8288663-5164-474F-BA77-C6DFEF589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3529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binary recall, PQ rerank, error-aware quota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A09C69-56FD-4AC3-A4D1-57272F43D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434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E28FCEB-5AE9-4B80-9927-6D8A1E228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35292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recall and output error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BA8AF5-0ABB-4440-A619-899F02778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819650"/>
            <a:ext cx="9334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36BB08-DC13-4F4D-9D27-56014E9E4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053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V/fallback simulator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76930DE-7E0A-4A44-9591-51EBF4CE0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95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5205D4C-A6F4-411A-85CD-10FC8F137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9053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quantized V bytes and completion recovery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5F8884-96AE-4488-B71C-BF82915E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8958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DF64D6C-FDAB-4D59-86DE-1BEDD35E1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4905375"/>
            <a:ext cx="32575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 per fetched byte</a:t>
            </a:r>
          </a:p>
        </p:txBody>
      </p:sp>
    </p:spTree>
    <p:extLst>
      <p:ext uri="{BB962C8B-B14F-4D97-AF65-F5344CB8AC3E}">
        <p14:creationId xmlns:p14="http://schemas.microsoft.com/office/powerpoint/2010/main" val="784619790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5C74140-93CD-49E1-8C24-2CD1E4416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0F7E76-D5DA-4F18-921A-A89BE8CDD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ABLATION GRID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DE001B-50DC-4AD4-8B3D-D6462B08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33912A-2213-481C-8DB8-DBD1DB350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ablation grid should decide if this is novelty or just complexity.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C5D076-2BF0-47C3-B5A3-E725C242C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critical proof is a three-way comparison: global PQ, naive page PQ, and dictionary-backed page PQ.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81CBA7C-5809-46B7-954D-60C509D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5273FD-B877-4847-AA99-ED869605A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Report both mean and tail behavior; rare retrieval failures matter.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7BAB8E-6492-48B3-B4CF-674710E1C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2823CE-90FE-4425-BCD1-F4CB04C2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002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89A4D-C301-4AA7-95C6-40602F6AD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859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Ablation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9EA8E-DEF1-416F-B375-E48EF3876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76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4E31EB-3D2F-4742-8ACC-3AB0E8B6A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859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Knob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BC6C4-CD97-4A74-AEF4-73C59099F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076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56B9F9-F214-4BB8-9C46-B89B36A14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0859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Quality metric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92D2BE-BBC1-4886-9292-30A8BCE59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076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898A44-8C09-4C76-AD13-E96BDAA92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0859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Memory metric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55D409-3C1E-4FC6-ADF3-A7009C957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0764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9C0CF2-B09C-4C6C-B46C-9A3417D51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0859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Decision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DEE07D-309C-452B-8A31-B19B8BB79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7B0113-B0F5-4FCC-95A5-3824ED8F7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812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size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8B31BA-28D3-474F-9BC0-9FE426B1A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571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6996D5-2815-4CD6-8D77-AA6B233DE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812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128 / 256 / 512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DD2602-1E0A-4C8F-9727-DB6829D77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571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2F7ED9-DE54-4064-8680-E19543FEA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25812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active-page error, seal frequency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65D169-78FA-437D-B53B-4C2307630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571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821E4C4-1069-4FC8-A34D-95E91EFFD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812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alias and page overhead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B1596B-ED3F-4481-AC04-E0270225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717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B0017-3E25-4BD2-B366-ABC0A400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5812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choose latency/fit balance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80D61A8-6ACD-45E3-82B0-65DA7402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908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41C0D0-E0F3-4751-97DD-FEA45C8E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765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Merge threshold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7655923-B03D-4ABC-B6AB-39A247807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067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08F2E0-79F5-4C84-A62B-4AAD3BF2D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0765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tau, radius, epsilon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FB1C79C-532E-4654-964C-F5807C2D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67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C803A7-D21D-48C8-B531-0B0B91B3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0765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recall tail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A265B2E-7694-4192-BB56-DEF7AC8AB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067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CBCCC88-CBCF-4F65-9FD0-EADFCB2C7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0765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dictionary growth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32FF5C1-02DA-4C07-8C6A-2E9C6B5F7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0670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F87E20D-99EB-4D69-876A-C60582D8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765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metadata-quality curve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8AD4FF8-65A5-4B5E-8ABB-0EA0CB07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861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2B9F3923-554D-4008-9D28-8E0251F49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718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Private centroids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DB762F4-92E1-448A-B89F-A85983C7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562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A689E27-BC84-4652-9774-B574A8B7B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718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none / limited / unlimited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BC11B56-F14F-4B70-86AE-13F51E8FA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562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517FDC6-1A1F-4636-9377-B188BEC1B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35718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outlier recovery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DEE3D46-22F5-4DE8-A4BD-6358EC0C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562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E834DB4-D3F4-46EC-AFDA-CBB76619B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35718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private bank bytes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1C22E13-8E30-481A-A1E0-DF6185E78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623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64867B4-30F1-4042-A5D9-55A3D9ACA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5718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cap hard pages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07C222F-0A03-477E-BDAB-3751C453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814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94DB7D5-73BB-4BEA-ACF5-405E558ED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671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Alias width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604C3FD-EF44-4E66-98D2-B19AF699A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0576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AF29FE-3785-4A4E-BF3C-419E0BB64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0671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4 / 5 / 6 / 8 bits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7D37D5-C7C8-499D-A857-9E36C6FA6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0576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76D0F355-8283-4AF3-A4DB-766364AB0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0671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local centroid pressure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FB4FE278-3A06-4203-92C3-B40305915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0576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9250A63-203E-4C3E-AD08-F2C55599B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0671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token code bytes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3E9EAC9-0CCA-4A3F-889C-C022FDA13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0576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1505348-568E-464D-8FC3-536086FCF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0671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min useful alias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B43DF86-F8A4-4EFD-815B-DDE5B5B44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76750"/>
            <a:ext cx="10668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73F024F-BC2D-4EFC-8BD9-5FB4BFBED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562475"/>
            <a:ext cx="1828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Quota policy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A41DE24-6A26-4037-A851-984C0D170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45529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6367C6CE-3379-44AA-9293-B0805EDF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562475"/>
            <a:ext cx="20193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fixed / score upper / entropy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95F813D-3E1C-4747-B9C5-2B91B388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5529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1213799-AED4-4C5B-AA1E-618C5EB86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45624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miss rate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81043FF5-203F-48E3-9B2E-7199D0667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5529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F5B549-A781-4C7E-8B61-0FC1370E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4562475"/>
            <a:ext cx="22574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candidate count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8BC379C-A76E-430C-8F74-7C1657C62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552950"/>
            <a:ext cx="9525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3D34C3C-4C67-4270-A508-33972DA1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62475"/>
            <a:ext cx="1447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 guardrail</a:t>
            </a:r>
          </a:p>
        </p:txBody>
      </p:sp>
    </p:spTree>
    <p:extLst>
      <p:ext uri="{BB962C8B-B14F-4D97-AF65-F5344CB8AC3E}">
        <p14:creationId xmlns:p14="http://schemas.microsoft.com/office/powerpoint/2010/main" val="164494961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EC9A6B-5F11-4B66-94A8-C37F16B8F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D2EA64F-1822-4F36-B8DD-BD560040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GPU PLAN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4851C1-40E8-495A-B27A-F5610A2C1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82BDEA-1259-4DC3-9C29-B7D8A64D6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GPU benchmarking should test whether alias indirection erases the byte savings.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06C7F7-8C2F-4650-ABB6-96CEE406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GPU prototype is where the proposal becomes systems-real: bit packing, dictionary LUTs, page aliases, top-k, and sparse gathers all matter.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C466FD-0DD2-4F5F-A9B9-0C0179603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908BA3-9406-407E-A612-C21B660AB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A negative GPU result can still strengthen the hardware argument.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9F8FEA-78A0-48E2-8B6A-C4D2DAEA6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6366A1-BF2A-4859-9108-880D6E60E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2619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1430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37E7B9-67DD-4331-8F0F-D08611E1F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486025"/>
            <a:ext cx="2352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Kernel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D3ABF-052C-4AC5-A695-0FA15272F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432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scan and top-M candidate generation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4B66F7-693D-4BB4-8B84-09C7BEE6F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343150"/>
            <a:ext cx="2619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1430">
            <a:solidFill>
              <a:srgbClr val="BD8E2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E820A8B-2C8A-4596-87FB-A7E99946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486025"/>
            <a:ext cx="2352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Kernel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BEDC22-37DE-47FA-B25F-0B3EC40E1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7432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alias lookup plus dictionary PQ LUT rerank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27C2ED-2041-4C56-878E-B006B45D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343150"/>
            <a:ext cx="261937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1430">
            <a:solidFill>
              <a:srgbClr val="4E806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26130B-63D8-4155-9411-50A09A085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486025"/>
            <a:ext cx="235267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Kernel 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8506C0-03B3-484C-9680-8D06CE57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2743200"/>
            <a:ext cx="23336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sparse V page fetch, dequant, selected attention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5ED23-F326-423C-AAC7-DE8C5172F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191000"/>
            <a:ext cx="723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1C242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1A0C43-CB7D-4315-9A6F-DAF3D4E10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52925"/>
            <a:ext cx="6896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defRPr>
            </a:pPr>
            <a:r>
              <a:rPr sz="938" b="0">
                <a:solidFill>
                  <a:srgbClr val="FFFFFF"/>
                </a:solidFill>
                <a:latin typeface="Aptos Mono"/>
                <a:ea typeface="Aptos Mono"/>
                <a:cs typeface="Aptos Mono"/>
              </a:rPr>
              <a:t>benchmark = quality + tokens/sec + HBM bytes + alias stalls + gather efficiency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6047AE-2AC5-46DD-80B4-DE1A99359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14350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Compare against dense/GQA, KV quantization, global PQCache-like selection, and naive page-local PQ.</a:t>
            </a:r>
          </a:p>
        </p:txBody>
      </p:sp>
    </p:spTree>
    <p:extLst>
      <p:ext uri="{BB962C8B-B14F-4D97-AF65-F5344CB8AC3E}">
        <p14:creationId xmlns:p14="http://schemas.microsoft.com/office/powerpoint/2010/main" val="1057343975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DC4511-C42F-4A5E-93AF-2DB9C0D13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663EAC-F673-43FC-A95B-4F917421B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HARDWARE SPLIT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BF1852-A084-4361-B0E9-A81B19CC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BFEE99-22EF-4E89-A035-2A4622996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chip story separates the seal engine from the decode engine.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CBB882-786D-477B-9235-88686629B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Page-local training/merging can run off the hot path; decode needs predictable SRAM lookups, popcount, top-k, LUT scoring, and page fetch.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3955CC-E92A-4E95-8B39-FD99853BF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813799-CA07-487C-AA46-424A134A0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separation keeps adaptive PQ out of the per-token critical path.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544DB2-194F-4654-B263-F80107FDA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98A53-2453-4C6D-B570-CC8AFA7CA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7393A5-6A88-4341-B81D-0F7CA04D9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505075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Seal engine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3318A-4A5E-4D87-B38C-46A1AA0C4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7813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local clustering, merge tests, alias table build, outlier routing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44D8DF-D6AD-4615-92F7-9D563864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3143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DA28AA7-9592-4973-B37B-E6313555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505075"/>
            <a:ext cx="28765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Decode 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5F9AF-19CE-42CA-BA5B-2CD454C6D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8975" y="2781300"/>
            <a:ext cx="28765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scan, score upper, dictionary LUT, top-k, V page scheduler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FB59DFA-0471-4C54-AAD7-4053344C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990850"/>
            <a:ext cx="2524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CF15C-C325-46DA-8620-B6BDAA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72415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sealed page metadata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C94091-6AB3-47F1-BD9A-617566665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4495800"/>
            <a:ext cx="476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1430">
            <a:solidFill>
              <a:srgbClr val="287E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712E34-7676-443E-B6C9-4894BF299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638675"/>
            <a:ext cx="4495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On-chip state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4BCD83-8C75-437D-843C-5266C4FD7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895850"/>
            <a:ext cx="44767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dictionary SRAM, page alias SRAM/cache, top-k buffers, V reorder buffer</a:t>
            </a:r>
          </a:p>
        </p:txBody>
      </p:sp>
    </p:spTree>
    <p:extLst>
      <p:ext uri="{BB962C8B-B14F-4D97-AF65-F5344CB8AC3E}">
        <p14:creationId xmlns:p14="http://schemas.microsoft.com/office/powerpoint/2010/main" val="68961200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19C6BC-3F33-4413-9569-713ED7C8C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DA656F-4A9A-4858-8257-DFF08DCF0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HARDWARE DATAPATH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A761D4-F846-4FD7-A8D5-4961D1DD4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80299C-7FD5-46EC-9A35-26BC3E975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Custom hardware should make the dictionary indirection regular.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35C7BD-0DE9-4429-8EA3-B93FAE203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is the part GPUs may dislike and an ASIC can directly support with small SRAM banks and fixed reduction trees.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0D1D5-5F07-486C-B5AD-04CDFC67E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102081-6BF4-4447-BC0B-B9D423998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datapath still supports PQCache-like global mode by bypassing page aliases.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62D088-374C-4BE0-BE49-29A32F9AE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CFCCFF-7924-4039-8486-0D172361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7063EFD-1C31-4E6B-A987-5E62CFD05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b_i SRAM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0A4C1E-279F-4EA2-9B1A-B4A070408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sidecar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069447-6093-44BF-83A9-A855B53F7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8FC0F1-0BE7-49A4-A0A9-FCDB1B37E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CF2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220B1-606A-4261-9AC7-BDFA26ED6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Popcount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1C6377-6793-4CEB-B9F3-99476F7C7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coarse recall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B7D4B7-8B92-41E8-809E-67FFD5D7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28474F-BC77-4E91-944B-FEAF20CE3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02B30E-7417-493D-BBB4-BA04B569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Alias SRAM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954CD4-A628-4FB7-A266-1AA429C9B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local -&gt; centroid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AD7FA1-4F10-41AD-A3F8-996D0289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562F4E-6301-40C3-AF41-059A55AD0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4C5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21B033-E4AC-411F-9BA4-B3E090177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Dict SRAM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24FCC9-A62F-48FE-9FF9-44B38B1F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centroid LUT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CDF25-EED0-4E1D-83A0-69EEB1692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6548A52-9E94-4BAD-8FA3-D6802AE4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2BD899-23A5-4E53-B580-F433747EA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Top-K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82824C3-9AE0-4F5D-9E37-CA270FE04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rerank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101D607-6AFF-4197-A7CE-DB5BB4131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64D8B29-E3EE-4ED3-8D2E-34806DB19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ADC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14F9CC-7E32-486E-91E7-ABD841AF4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V 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962136-8ED4-4F87-B1DB-D722BCA03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fetch/dequant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AC16F3-BEB4-463F-B82C-5942C8454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267075"/>
            <a:ext cx="419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E3C9E63-1BE7-432B-913B-30EFB1B91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2876550"/>
            <a:ext cx="11620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DFF0"/>
          </a:solidFill>
          <a:ln xmlns:a="http://schemas.openxmlformats.org/drawingml/2006/main" w="13335">
            <a:solidFill>
              <a:srgbClr val="7666A6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FE9A998-3623-43E3-9513-1E03CF2BF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000375"/>
            <a:ext cx="8953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163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Fallback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71133A3-B413-416E-9138-EA06B6EA5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3276600"/>
            <a:ext cx="8953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summary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55965C7-06F1-4EAA-89B7-0B539795C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762500"/>
            <a:ext cx="8572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Hardware primitive list: bit-sliced scan, variance-aware admission, alias lookup, dictionary LUT reduction, page-aware sparse V fetch.</a:t>
            </a:r>
          </a:p>
        </p:txBody>
      </p:sp>
    </p:spTree>
    <p:extLst>
      <p:ext uri="{BB962C8B-B14F-4D97-AF65-F5344CB8AC3E}">
        <p14:creationId xmlns:p14="http://schemas.microsoft.com/office/powerpoint/2010/main" val="473867540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D176054-5080-4A6A-9768-142016C4C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76CB83-98D6-4234-A728-E0D6BC97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EVALUATION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B4B1CA-D942-4625-B9F9-BA8A45F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C37F39-5999-4C89-96E4-BA91E4B65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project should advance only if metadata growth and attention error both stay controlled.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6EC7B-BBE5-4178-8B21-71DA8DF6D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slide is the advisor-facing test plan for whether the novelty is real.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BF42F-825A-4930-8E48-1055D67A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E8EBAF-52FD-4070-8AA4-4E4803F1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Hard gates can be tuned after a first model/trace target is chosen.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CD6C73-83DE-4150-A83D-DFFB7B3AE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59B56F-15B7-4E2A-81E4-1ECF5E9A9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4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3A93EA-D956-477E-9AC8-BA35000F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621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Gate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D0F78E-E017-4933-88F2-61BC8BDE9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8F087A-22DB-4CBC-BE51-FEF27EBF8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1621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Pass signal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BD69A1-09CD-4689-AC4E-B1916FE6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1D3A20-BEBA-48A3-A592-A1BBAE0C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621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Fail signal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51D981-9C4D-4CA8-9DB0-90F9FA7D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1526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943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AC306-8CDA-40AC-990D-3B40D19F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16217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6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6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837B53-2BAE-4F3D-8A3F-3868DE138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289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E1B058-CF7E-4D41-A115-CBD8CDBD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146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Dictionary growth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85D9A1-F4D7-40EC-8189-85F7226CE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31FC4F-8DA8-4FE3-93CD-6960C8F74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centroids grow sublinear with pages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56CCCEC-4074-4599-ACAD-4FFD634D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4137A-B633-4186-A66A-8269EF0DB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146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near page-local codebook cost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997E91-E1A2-415E-9D51-D02568824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7051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CB4512-B906-42FB-9BE2-CB8A7F1D1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71462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tighten merge or abandon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1D9730-1218-41FC-99F5-3251C9B01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813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4FEDEA-26DE-4652-8DCE-B95557430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670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Attention fidelity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5FE157-9C2F-4E49-B7BE-3866492AC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8BBA85-04EB-49FC-B293-220CA3A7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2670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recall/output error matches page-local PQ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B703C31-35A9-4759-BD91-2423E8363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9ED7A4A-A160-4995-8327-41AA1EFD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670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merge causes tail misses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8C614F9-8EE9-4673-B7DB-7D1CBC1BE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575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539FE2-4BAD-42B4-946F-7FB396179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6707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use private centroids/outliers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0FE0EC-F6A7-48A8-A8C7-2B098CCF3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7338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AC24F2-6393-4681-B7A1-2B4F0899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8195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GPU reality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D4A083-DE94-48E3-A946-2BEF27547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A877730-937A-442B-834F-0C1B4FCF9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195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byte savings survive alias/top-k/gather overhead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0BE743-4E76-4A64-9B48-492FB9ED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238F76D-12A1-4371-895F-8ECF67557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195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latency worse than KV quant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8A8AB62-F55B-4AA8-9D46-53A59135A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8100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ECBCA24-6A60-4D2F-B0F4-6F7AA86CA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81952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hardware-only argument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5E895C8-B4F0-4A85-9CA0-57DB04415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8625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04E49A1-4169-445A-BA52-4E520055BA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7197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Hardware case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3F703F9-CA32-421A-B71D-B0B85E522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433BEDA-4DB3-4ABD-BA31-28715C2F6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3719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bottlenecks map to compact SRAM/datapath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A348E0-BA14-406E-959D-95282639B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1520EF4-69FE-4246-9B9F-B968386D4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37197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needs broad vector DB engine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31AF4EC-05E3-4637-92D7-6F901DFBF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6245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6E506A-CFA7-443E-BF3C-ED95FB37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37197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narrow scope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A50FA7D-36DC-4456-BBB5-E6AEA56F0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838700"/>
            <a:ext cx="100012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F0C11D6-E156-4F9C-BE45-B0964010E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24425"/>
            <a:ext cx="23050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Quality fallback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F8F6A3-12CF-4023-9234-B2C51E545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869085F-E3E1-4A26-BCA8-157921BC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9244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completion recovers diffuse-head failures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C927BB7-029D-4BC8-A814-CE2FFF0F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1C46EEE-20DD-4749-8690-E61A78CB4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924425"/>
            <a:ext cx="2590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fallback hides selector weakness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453B2A6-ADB0-4C81-919C-416021759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914900"/>
            <a:ext cx="95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F94B8D-39BC-46B3-8C99-D6BD72309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924425"/>
            <a:ext cx="18288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78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878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revisit selector</a:t>
            </a:r>
          </a:p>
        </p:txBody>
      </p:sp>
    </p:spTree>
    <p:extLst>
      <p:ext uri="{BB962C8B-B14F-4D97-AF65-F5344CB8AC3E}">
        <p14:creationId xmlns:p14="http://schemas.microsoft.com/office/powerpoint/2010/main" val="648927036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015AE97-288C-4A86-AF81-B53881962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13A994-40F6-4E14-AEBA-494D7602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ADVISOR PITCH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5F737B-19DB-45F7-B4F0-B2C5389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634C33-F5DD-4DD7-B065-87B87E90B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novelty is a compression-index co-design, not another sparse-attention heuristic.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FB0419-5B43-46D7-8F6C-C676DCB0E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proposal can be explained as a way to get page-local adaptation with global-style metadata reuse.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D9036D-0F74-48D3-A2D3-6585AC492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961BA-39D7-4369-9F80-78F58D89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This is the short version for a meeting.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BAA9334-16A2-4304-A886-E9F70F06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024022-68D0-4478-AAAD-9B177CBD9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9F7B23-7003-4FF6-8F26-FD91C4907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3526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C65F4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C65F4C"/>
                </a:solidFill>
                <a:latin typeface="Aptos"/>
                <a:ea typeface="Aptos"/>
                <a:cs typeface="Aptos"/>
              </a:rPr>
              <a:t>Problem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D788E-3C6C-4580-AC9D-6A41FF2CC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3241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Global PQ can drift during long decode; naive page PQ has linear codebook overhead.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A0F594B-E366-4B31-A1BF-C8A6B391E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337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447157-35BE-46CC-936B-3ADC0107C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956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45C1BA-1CDC-42C3-9185-54D34CB8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0670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Keep the active page exact, train page PQ on seal, then intern/merge centroids into a shared dictionary.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204C219-CFEF-4929-AC63-BA92EBFD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6766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E5D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3E5328-D17C-4319-BDA9-C45CD3D9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83857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Guarantee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6F4A9-231D-4FB5-BC19-8E861C93F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81000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Merge only under variance and attention-logit bounds; otherwise use private centroids or outlier storage.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B1C59B-D297-483B-BEA0-6EED95F8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1960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330006-5208-42DE-A322-30BBD0E6B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581525"/>
            <a:ext cx="114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088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Payoff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DE8C9D-88DD-4D82-B35D-3889F4A5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4552950"/>
            <a:ext cx="685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1717"/>
                </a:solidFill>
                <a:latin typeface="Aptos"/>
                <a:ea typeface="Aptos"/>
                <a:cs typeface="Aptos"/>
              </a:rPr>
              <a:t>Compressed K becomes searchable, locally adaptive, and metadata-efficient enough to motivate hardware.</a:t>
            </a:r>
          </a:p>
        </p:txBody>
      </p:sp>
    </p:spTree>
    <p:extLst>
      <p:ext uri="{BB962C8B-B14F-4D97-AF65-F5344CB8AC3E}">
        <p14:creationId xmlns:p14="http://schemas.microsoft.com/office/powerpoint/2010/main" val="1040636284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4D2D5F-2DA1-4251-96E5-D364DE239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3A1001-D948-40E0-849E-2365711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MILESTONES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FC6E22-523E-4BDF-83FC-E854F5230E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42478FB-C7B2-4B28-8077-BF13353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The implementation path should disprove weak variants before GPU or hardware work expands.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8AA9AA-A4B1-4EA4-9222-0CE3E9E3D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Start with the algorithmic claim: dictionary-backed page PQ should match page-local quality at much lower metadata cost.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5D839B-508B-45DE-A32E-96BB3FA22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798B48-CA65-46E9-A257-D7F75D8CD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Timeline is a research sequence, not a calendar promise.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0FED8-2E0F-4620-95B5-3B20429D4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2EB156-024B-4042-A456-D4E73D817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52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22FCAB-AE15-47E4-B5A6-5D1128E73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571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60F40C-4C91-4661-B597-D183334B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CPU trace + dense baseline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88852-0313-47BA-A9A8-72BAC683A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242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exact Q/K/V, logits, top-k, output error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944E77-885E-4E4B-AF42-F0CDDDF4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71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D499C4-24D8-4495-B9D3-2191292D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400300"/>
            <a:ext cx="152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3335">
            <a:solidFill>
              <a:srgbClr val="287E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2E99A6-0FFD-40A7-AA01-A9DD5BDF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71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287EA8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287EA8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E3F07C-8733-4DBC-BF21-2BE9B6C40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Page PQ + interning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F15B01-3151-4909-A9AF-19DD55F0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merge stats, dictionary growth, private centroid use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3C147-E8AA-4AAC-9964-844F1D7C9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171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EC895AC-5E26-4F54-B206-3104E825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152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3335">
            <a:solidFill>
              <a:srgbClr val="BD8E2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7DCA86-0ED2-479B-A440-47498184E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571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BD8E2C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BD8E2C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13AFF1-6441-4438-899A-33F93E262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Selector + fallback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9811FA-A2A7-4026-AF15-50BD7E616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5242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binary recall, error-aware quota, V bytes, completion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8E233F-0093-48E0-B7AA-111CE1F11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71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4240688-1093-465E-BC7C-84223A18B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400300"/>
            <a:ext cx="152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3335">
            <a:solidFill>
              <a:srgbClr val="4E806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3033D3E-3CC4-4065-AA37-CAF041C5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571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E8061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4E8061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D3167D-0039-4EB6-8BDD-AE9D2DD6E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GPU benchmark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F9A80DC-0CEF-407D-83E9-32CAD3663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5242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alias/LUT/top-k/gather bottleneck profile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E490461-2A6D-4B5A-B271-869190796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171825"/>
            <a:ext cx="571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878947A-F5AF-4ACA-BD22-F030BD29C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400300"/>
            <a:ext cx="1524000" cy="1571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13335">
            <a:solidFill>
              <a:srgbClr val="7666A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5F7FA1D-A9B9-439B-9CD4-BAAB1069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571750"/>
            <a:ext cx="476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7666A6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7666A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C8B170D-53EF-44FD-81F5-70925CF56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048000"/>
            <a:ext cx="12192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Hardware model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9ECC2E-86B8-4290-94D9-7DE90493C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2192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SRAM, traffic, latency, energy per generated token</a:t>
            </a:r>
          </a:p>
        </p:txBody>
      </p:sp>
    </p:spTree>
    <p:extLst>
      <p:ext uri="{BB962C8B-B14F-4D97-AF65-F5344CB8AC3E}">
        <p14:creationId xmlns:p14="http://schemas.microsoft.com/office/powerpoint/2010/main" val="28978226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7E0D34E-471D-43FA-9B41-439AECDE4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1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25DA3A-4583-4814-8D8F-CCBFB6C45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809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SOURCES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E89AED-B066-4315-925F-12F572BD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"/>
            <a:ext cx="876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C17A8E-E0B9-42D2-ADA7-CA1F498D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10096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defRPr>
            </a:pPr>
            <a:r>
              <a:rPr sz="2175" b="1">
                <a:solidFill>
                  <a:srgbClr val="171717"/>
                </a:solidFill>
                <a:latin typeface="Aptos Display"/>
                <a:ea typeface="Aptos Display"/>
                <a:cs typeface="Aptos Display"/>
              </a:rPr>
              <a:t>Primary references for the revised proposal.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062F5-065E-4955-B92B-FABC1297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81150"/>
            <a:ext cx="96202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The centroid-intering mechanism is the proposed new idea; these sources motivate the components around it.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BE87A24-AF4B-485B-946C-F969FEA9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096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A43292-675D-4590-A8BE-A0EC21392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8858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URLs are plain text for easy copy/paste.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379806-5846-480F-85A7-259934A5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00800"/>
            <a:ext cx="247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5B5751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FADBFF-9003-44D6-9E1B-C1A2C768C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2669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2EA814-0021-4839-9001-B685D889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81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PQCache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4AA8B0-EEAE-4D46-BE56-8F243917C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90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https://arxiv.org/abs/2407.12820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E7EE39-998C-4A18-BFF9-6930281D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9908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82C988-69D8-419C-BDAD-7F0019EE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Self-Indexing KVCache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EB944C-D901-44D3-A8D2-229CC54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114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https://arxiv.org/abs/2603.14224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4B35F5-3511-4BE5-924B-82CE30D6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7147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9E1407-97B5-46E2-A8FB-257BA0755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29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DASH-KV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BD1964-8FB2-4E36-A97A-0E954710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385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https://arxiv.org/abs/2604.19351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4E16505-0764-4DB1-85C4-F9C67C884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669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562DBEC-667B-4F9E-B600-2EB13C981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3812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Top-K + Completion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C02C73-2149-4913-AB7A-C950C4AC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907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https://arxiv.org/abs/2604.05438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0051BD7-23FD-49A9-AEA2-DCD30DFC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908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B03F6A-A3AA-4686-9B5B-80DE8BC5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1051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ShadowKV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A0DCCD-FB7A-40B4-8A21-91968DB2E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146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https://arxiv.org/abs/2410.21465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415986-0052-49C4-8E92-8BE87ADF4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714750"/>
            <a:ext cx="3810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CCBC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4CA41B5-6CFD-4557-ABB3-7942AE3F6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82905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71717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71717"/>
                </a:solidFill>
                <a:latin typeface="Aptos"/>
                <a:ea typeface="Aptos"/>
                <a:cs typeface="Aptos"/>
              </a:rPr>
              <a:t>ParisKV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3C8BE9-6889-424C-B361-EECFBC3A9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838575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https://arxiv.org/abs/2602.07721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1EAECE-5624-4419-B7DC-052DA123A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334000"/>
            <a:ext cx="781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B5751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B5751"/>
                </a:solidFill>
                <a:latin typeface="Aptos"/>
                <a:ea typeface="Aptos"/>
                <a:cs typeface="Aptos"/>
              </a:rPr>
              <a:t>Proposal-specific terms to use with advisor: paged PQ, centroid interning, dictionary-backed PQ, variance/logit-bounded merge, page alias table.</a:t>
            </a:r>
          </a:p>
        </p:txBody>
      </p:sp>
    </p:spTree>
    <p:extLst>
      <p:ext uri="{BB962C8B-B14F-4D97-AF65-F5344CB8AC3E}">
        <p14:creationId xmlns:p14="http://schemas.microsoft.com/office/powerpoint/2010/main" val="48931693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2026-05-02T05:18:46.8230000Z</dcterms:created>
  <dcterms:modified xsi:type="dcterms:W3CDTF">2026-05-02T05:18:46.8230000Z</dcterms:modified>
</coreProperties>
</file>